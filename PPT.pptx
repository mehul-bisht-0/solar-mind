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Poppins" panose="00000500000000000000" pitchFamily="2" charset="0"/>
      <p:regular r:id="rId14"/>
    </p:embeddedFont>
    <p:embeddedFont>
      <p:font typeface="Poppins Bold" panose="020B0604020202020204" charset="0"/>
      <p:regular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22" autoAdjust="0"/>
  </p:normalViewPr>
  <p:slideViewPr>
    <p:cSldViewPr>
      <p:cViewPr varScale="1">
        <p:scale>
          <a:sx n="54" d="100"/>
          <a:sy n="54" d="100"/>
        </p:scale>
        <p:origin x="782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7.png"/><Relationship Id="rId7" Type="http://schemas.openxmlformats.org/officeDocument/2006/relationships/image" Target="../media/image10.png"/><Relationship Id="rId12" Type="http://schemas.openxmlformats.org/officeDocument/2006/relationships/image" Target="../media/image20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18.sv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1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1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18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18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18.sv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18.sv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4.png"/><Relationship Id="rId4" Type="http://schemas.openxmlformats.org/officeDocument/2006/relationships/image" Target="../media/image18.sv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-26937"/>
            <a:ext cx="18288000" cy="10313937"/>
            <a:chOff x="0" y="0"/>
            <a:chExt cx="24384000" cy="137519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51940"/>
            </a:xfrm>
            <a:custGeom>
              <a:avLst/>
              <a:gdLst/>
              <a:ahLst/>
              <a:cxnLst/>
              <a:rect l="l" t="t" r="r" b="b"/>
              <a:pathLst>
                <a:path w="24384000" h="13751940">
                  <a:moveTo>
                    <a:pt x="0" y="0"/>
                  </a:moveTo>
                  <a:lnTo>
                    <a:pt x="24384000" y="0"/>
                  </a:lnTo>
                  <a:lnTo>
                    <a:pt x="24384000" y="13751940"/>
                  </a:lnTo>
                  <a:lnTo>
                    <a:pt x="0" y="13751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104" b="-9104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96430" y="5300186"/>
            <a:ext cx="17495139" cy="4573314"/>
          </a:xfrm>
          <a:custGeom>
            <a:avLst/>
            <a:gdLst/>
            <a:ahLst/>
            <a:cxnLst/>
            <a:rect l="l" t="t" r="r" b="b"/>
            <a:pathLst>
              <a:path w="17495139" h="4573314">
                <a:moveTo>
                  <a:pt x="0" y="0"/>
                </a:moveTo>
                <a:lnTo>
                  <a:pt x="17495140" y="0"/>
                </a:lnTo>
                <a:lnTo>
                  <a:pt x="17495140" y="4573315"/>
                </a:lnTo>
                <a:lnTo>
                  <a:pt x="0" y="4573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5" name="Group 5"/>
          <p:cNvGrpSpPr/>
          <p:nvPr/>
        </p:nvGrpSpPr>
        <p:grpSpPr>
          <a:xfrm>
            <a:off x="227257" y="321678"/>
            <a:ext cx="2712368" cy="566204"/>
            <a:chOff x="0" y="0"/>
            <a:chExt cx="3616490" cy="7549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16452" cy="754888"/>
            </a:xfrm>
            <a:custGeom>
              <a:avLst/>
              <a:gdLst/>
              <a:ahLst/>
              <a:cxnLst/>
              <a:rect l="l" t="t" r="r" b="b"/>
              <a:pathLst>
                <a:path w="3616452" h="754888">
                  <a:moveTo>
                    <a:pt x="0" y="0"/>
                  </a:moveTo>
                  <a:lnTo>
                    <a:pt x="3616452" y="0"/>
                  </a:lnTo>
                  <a:lnTo>
                    <a:pt x="3616452" y="754888"/>
                  </a:lnTo>
                  <a:lnTo>
                    <a:pt x="0" y="754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2" r="-1" b="-7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4249245" y="2073488"/>
            <a:ext cx="2305936" cy="2498827"/>
            <a:chOff x="0" y="0"/>
            <a:chExt cx="3074581" cy="33317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74543" cy="3331718"/>
            </a:xfrm>
            <a:custGeom>
              <a:avLst/>
              <a:gdLst/>
              <a:ahLst/>
              <a:cxnLst/>
              <a:rect l="l" t="t" r="r" b="b"/>
              <a:pathLst>
                <a:path w="3074543" h="3331718">
                  <a:moveTo>
                    <a:pt x="0" y="0"/>
                  </a:moveTo>
                  <a:lnTo>
                    <a:pt x="3074543" y="0"/>
                  </a:lnTo>
                  <a:lnTo>
                    <a:pt x="3074543" y="3331718"/>
                  </a:lnTo>
                  <a:lnTo>
                    <a:pt x="0" y="3331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 b="-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752049" y="3539728"/>
            <a:ext cx="5174085" cy="491433"/>
            <a:chOff x="0" y="0"/>
            <a:chExt cx="6898780" cy="6552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98767" cy="655193"/>
            </a:xfrm>
            <a:custGeom>
              <a:avLst/>
              <a:gdLst/>
              <a:ahLst/>
              <a:cxnLst/>
              <a:rect l="l" t="t" r="r" b="b"/>
              <a:pathLst>
                <a:path w="6898767" h="655193">
                  <a:moveTo>
                    <a:pt x="0" y="0"/>
                  </a:moveTo>
                  <a:lnTo>
                    <a:pt x="6898767" y="0"/>
                  </a:lnTo>
                  <a:lnTo>
                    <a:pt x="6898767" y="655193"/>
                  </a:lnTo>
                  <a:lnTo>
                    <a:pt x="0" y="655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76464" b="-476474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6199387" y="-375828"/>
            <a:ext cx="1861442" cy="1861442"/>
            <a:chOff x="0" y="0"/>
            <a:chExt cx="2481923" cy="248192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81961" cy="2481961"/>
            </a:xfrm>
            <a:custGeom>
              <a:avLst/>
              <a:gdLst/>
              <a:ahLst/>
              <a:cxnLst/>
              <a:rect l="l" t="t" r="r" b="b"/>
              <a:pathLst>
                <a:path w="2481961" h="2481961">
                  <a:moveTo>
                    <a:pt x="0" y="0"/>
                  </a:moveTo>
                  <a:lnTo>
                    <a:pt x="2481961" y="0"/>
                  </a:lnTo>
                  <a:lnTo>
                    <a:pt x="2481961" y="2481961"/>
                  </a:lnTo>
                  <a:lnTo>
                    <a:pt x="0" y="248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1" b="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9431493" y="164087"/>
            <a:ext cx="28575" cy="738083"/>
            <a:chOff x="0" y="0"/>
            <a:chExt cx="38100" cy="9841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00" cy="984123"/>
            </a:xfrm>
            <a:custGeom>
              <a:avLst/>
              <a:gdLst/>
              <a:ahLst/>
              <a:cxnLst/>
              <a:rect l="l" t="t" r="r" b="b"/>
              <a:pathLst>
                <a:path w="38100" h="984123">
                  <a:moveTo>
                    <a:pt x="0" y="965073"/>
                  </a:move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65073"/>
                  </a:lnTo>
                  <a:cubicBezTo>
                    <a:pt x="38100" y="975614"/>
                    <a:pt x="29591" y="984123"/>
                    <a:pt x="19050" y="984123"/>
                  </a:cubicBezTo>
                  <a:cubicBezTo>
                    <a:pt x="8509" y="984123"/>
                    <a:pt x="0" y="975614"/>
                    <a:pt x="0" y="9650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7206367" y="2169119"/>
            <a:ext cx="4265447" cy="569404"/>
            <a:chOff x="0" y="0"/>
            <a:chExt cx="5687263" cy="7592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87314" cy="759206"/>
            </a:xfrm>
            <a:custGeom>
              <a:avLst/>
              <a:gdLst/>
              <a:ahLst/>
              <a:cxnLst/>
              <a:rect l="l" t="t" r="r" b="b"/>
              <a:pathLst>
                <a:path w="5687314" h="759206">
                  <a:moveTo>
                    <a:pt x="0" y="0"/>
                  </a:moveTo>
                  <a:lnTo>
                    <a:pt x="5687314" y="0"/>
                  </a:lnTo>
                  <a:lnTo>
                    <a:pt x="5687314" y="759206"/>
                  </a:lnTo>
                  <a:lnTo>
                    <a:pt x="0" y="75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24553" b="-324553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7345518" y="2769675"/>
            <a:ext cx="6010608" cy="1015770"/>
            <a:chOff x="0" y="0"/>
            <a:chExt cx="8014144" cy="13543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14208" cy="1354398"/>
            </a:xfrm>
            <a:custGeom>
              <a:avLst/>
              <a:gdLst/>
              <a:ahLst/>
              <a:cxnLst/>
              <a:rect l="l" t="t" r="r" b="b"/>
              <a:pathLst>
                <a:path w="8014208" h="1354398">
                  <a:moveTo>
                    <a:pt x="0" y="0"/>
                  </a:moveTo>
                  <a:lnTo>
                    <a:pt x="8014208" y="0"/>
                  </a:lnTo>
                  <a:lnTo>
                    <a:pt x="8014208" y="1354398"/>
                  </a:lnTo>
                  <a:lnTo>
                    <a:pt x="0" y="13543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45862" b="-24585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1644312" y="172164"/>
            <a:ext cx="28575" cy="738083"/>
            <a:chOff x="0" y="0"/>
            <a:chExt cx="38100" cy="9841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" cy="984123"/>
            </a:xfrm>
            <a:custGeom>
              <a:avLst/>
              <a:gdLst/>
              <a:ahLst/>
              <a:cxnLst/>
              <a:rect l="l" t="t" r="r" b="b"/>
              <a:pathLst>
                <a:path w="38100" h="984123">
                  <a:moveTo>
                    <a:pt x="0" y="965073"/>
                  </a:move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65073"/>
                  </a:lnTo>
                  <a:cubicBezTo>
                    <a:pt x="38100" y="975614"/>
                    <a:pt x="29591" y="984123"/>
                    <a:pt x="19050" y="984123"/>
                  </a:cubicBezTo>
                  <a:cubicBezTo>
                    <a:pt x="8509" y="984123"/>
                    <a:pt x="0" y="975614"/>
                    <a:pt x="0" y="9650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7345518" y="167878"/>
            <a:ext cx="520913" cy="791480"/>
            <a:chOff x="0" y="0"/>
            <a:chExt cx="694550" cy="105530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4563" cy="1055370"/>
            </a:xfrm>
            <a:custGeom>
              <a:avLst/>
              <a:gdLst/>
              <a:ahLst/>
              <a:cxnLst/>
              <a:rect l="l" t="t" r="r" b="b"/>
              <a:pathLst>
                <a:path w="694563" h="1055370">
                  <a:moveTo>
                    <a:pt x="0" y="0"/>
                  </a:moveTo>
                  <a:lnTo>
                    <a:pt x="694563" y="0"/>
                  </a:lnTo>
                  <a:lnTo>
                    <a:pt x="694563" y="1055370"/>
                  </a:lnTo>
                  <a:lnTo>
                    <a:pt x="0" y="1055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5240" r="1" b="-15235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8409584" y="173126"/>
            <a:ext cx="780012" cy="780983"/>
            <a:chOff x="0" y="0"/>
            <a:chExt cx="1040016" cy="104131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0003" cy="1041273"/>
            </a:xfrm>
            <a:custGeom>
              <a:avLst/>
              <a:gdLst/>
              <a:ahLst/>
              <a:cxnLst/>
              <a:rect l="l" t="t" r="r" b="b"/>
              <a:pathLst>
                <a:path w="1040003" h="1041273">
                  <a:moveTo>
                    <a:pt x="0" y="0"/>
                  </a:moveTo>
                  <a:lnTo>
                    <a:pt x="1040003" y="0"/>
                  </a:lnTo>
                  <a:lnTo>
                    <a:pt x="1040003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56" r="-1" b="-160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1934406" y="178375"/>
            <a:ext cx="1758410" cy="687981"/>
            <a:chOff x="0" y="0"/>
            <a:chExt cx="2344547" cy="91730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344547" cy="917321"/>
            </a:xfrm>
            <a:custGeom>
              <a:avLst/>
              <a:gdLst/>
              <a:ahLst/>
              <a:cxnLst/>
              <a:rect l="l" t="t" r="r" b="b"/>
              <a:pathLst>
                <a:path w="2344547" h="917321">
                  <a:moveTo>
                    <a:pt x="0" y="0"/>
                  </a:moveTo>
                  <a:lnTo>
                    <a:pt x="2344547" y="0"/>
                  </a:lnTo>
                  <a:lnTo>
                    <a:pt x="2344547" y="917321"/>
                  </a:lnTo>
                  <a:lnTo>
                    <a:pt x="0" y="917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84" b="-181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4709636" y="141780"/>
            <a:ext cx="2202304" cy="843686"/>
            <a:chOff x="0" y="0"/>
            <a:chExt cx="2936405" cy="11249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36367" cy="1124966"/>
            </a:xfrm>
            <a:custGeom>
              <a:avLst/>
              <a:gdLst/>
              <a:ahLst/>
              <a:cxnLst/>
              <a:rect l="l" t="t" r="r" b="b"/>
              <a:pathLst>
                <a:path w="2936367" h="1124966">
                  <a:moveTo>
                    <a:pt x="0" y="0"/>
                  </a:moveTo>
                  <a:lnTo>
                    <a:pt x="2936367" y="0"/>
                  </a:lnTo>
                  <a:lnTo>
                    <a:pt x="2936367" y="1124966"/>
                  </a:lnTo>
                  <a:lnTo>
                    <a:pt x="0" y="1124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80512" r="-1" b="-80509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9517971" y="167611"/>
            <a:ext cx="2021205" cy="813283"/>
            <a:chOff x="0" y="0"/>
            <a:chExt cx="2694940" cy="108437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694940" cy="1084326"/>
            </a:xfrm>
            <a:custGeom>
              <a:avLst/>
              <a:gdLst/>
              <a:ahLst/>
              <a:cxnLst/>
              <a:rect l="l" t="t" r="r" b="b"/>
              <a:pathLst>
                <a:path w="2694940" h="1084326">
                  <a:moveTo>
                    <a:pt x="0" y="0"/>
                  </a:moveTo>
                  <a:lnTo>
                    <a:pt x="2694940" y="0"/>
                  </a:lnTo>
                  <a:lnTo>
                    <a:pt x="2694940" y="1084326"/>
                  </a:lnTo>
                  <a:lnTo>
                    <a:pt x="0" y="108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74265" b="-74270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0249291" y="4290270"/>
            <a:ext cx="4004729" cy="508178"/>
            <a:chOff x="0" y="0"/>
            <a:chExt cx="5339639" cy="67757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339588" cy="677545"/>
            </a:xfrm>
            <a:custGeom>
              <a:avLst/>
              <a:gdLst/>
              <a:ahLst/>
              <a:cxnLst/>
              <a:rect l="l" t="t" r="r" b="b"/>
              <a:pathLst>
                <a:path w="5339588" h="677545">
                  <a:moveTo>
                    <a:pt x="0" y="0"/>
                  </a:moveTo>
                  <a:lnTo>
                    <a:pt x="5339588" y="0"/>
                  </a:lnTo>
                  <a:lnTo>
                    <a:pt x="5339588" y="677545"/>
                  </a:lnTo>
                  <a:lnTo>
                    <a:pt x="0" y="67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t="-1111" b="-1117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364874" y="6167318"/>
            <a:ext cx="5841493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sz="39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Name: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Padhlo</a:t>
            </a: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Pappu 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4875" y="6840718"/>
            <a:ext cx="7245726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Leader Name: </a:t>
            </a: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 Bold"/>
                <a:cs typeface="Times New Roman"/>
                <a:sym typeface="Times New Roman"/>
              </a:rPr>
              <a:t>Mehul Bisht</a:t>
            </a: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64874" y="7586843"/>
            <a:ext cx="15258795" cy="1377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4"/>
              </a:lnSpc>
            </a:pPr>
            <a:r>
              <a:rPr lang="en-US" sz="400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Statement: </a:t>
            </a:r>
            <a:r>
              <a:rPr lang="en-US" sz="400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Solar Feasibility and Planning System for Buildings.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45518" y="4316235"/>
            <a:ext cx="2540851" cy="45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1"/>
              </a:lnSpc>
            </a:pPr>
            <a:r>
              <a:rPr lang="en-US" sz="21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Technical Partner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996112" y="172164"/>
            <a:ext cx="28575" cy="738083"/>
            <a:chOff x="0" y="0"/>
            <a:chExt cx="38100" cy="98411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8100" cy="984123"/>
            </a:xfrm>
            <a:custGeom>
              <a:avLst/>
              <a:gdLst/>
              <a:ahLst/>
              <a:cxnLst/>
              <a:rect l="l" t="t" r="r" b="b"/>
              <a:pathLst>
                <a:path w="38100" h="984123">
                  <a:moveTo>
                    <a:pt x="0" y="965073"/>
                  </a:move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65073"/>
                  </a:lnTo>
                  <a:cubicBezTo>
                    <a:pt x="38100" y="975614"/>
                    <a:pt x="29591" y="984123"/>
                    <a:pt x="19050" y="984123"/>
                  </a:cubicBezTo>
                  <a:cubicBezTo>
                    <a:pt x="8509" y="984123"/>
                    <a:pt x="0" y="975614"/>
                    <a:pt x="0" y="9650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8139112" y="172164"/>
            <a:ext cx="28575" cy="738083"/>
            <a:chOff x="0" y="0"/>
            <a:chExt cx="38100" cy="98411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8100" cy="984123"/>
            </a:xfrm>
            <a:custGeom>
              <a:avLst/>
              <a:gdLst/>
              <a:ahLst/>
              <a:cxnLst/>
              <a:rect l="l" t="t" r="r" b="b"/>
              <a:pathLst>
                <a:path w="38100" h="984123">
                  <a:moveTo>
                    <a:pt x="0" y="965073"/>
                  </a:move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65073"/>
                  </a:lnTo>
                  <a:cubicBezTo>
                    <a:pt x="38100" y="975614"/>
                    <a:pt x="29591" y="984123"/>
                    <a:pt x="19050" y="984123"/>
                  </a:cubicBezTo>
                  <a:cubicBezTo>
                    <a:pt x="8509" y="984123"/>
                    <a:pt x="0" y="975614"/>
                    <a:pt x="0" y="9650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1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06254" y="808111"/>
            <a:ext cx="17875491" cy="8998296"/>
          </a:xfrm>
          <a:custGeom>
            <a:avLst/>
            <a:gdLst/>
            <a:ahLst/>
            <a:cxnLst/>
            <a:rect l="l" t="t" r="r" b="b"/>
            <a:pathLst>
              <a:path w="17875491" h="8998296">
                <a:moveTo>
                  <a:pt x="0" y="0"/>
                </a:moveTo>
                <a:lnTo>
                  <a:pt x="17875492" y="0"/>
                </a:lnTo>
                <a:lnTo>
                  <a:pt x="17875492" y="8998296"/>
                </a:lnTo>
                <a:lnTo>
                  <a:pt x="0" y="899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6301" y="292779"/>
            <a:ext cx="4265447" cy="569404"/>
            <a:chOff x="0" y="0"/>
            <a:chExt cx="5687263" cy="7592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7314" cy="759206"/>
            </a:xfrm>
            <a:custGeom>
              <a:avLst/>
              <a:gdLst/>
              <a:ahLst/>
              <a:cxnLst/>
              <a:rect l="l" t="t" r="r" b="b"/>
              <a:pathLst>
                <a:path w="5687314" h="759206">
                  <a:moveTo>
                    <a:pt x="0" y="0"/>
                  </a:moveTo>
                  <a:lnTo>
                    <a:pt x="5687314" y="0"/>
                  </a:lnTo>
                  <a:lnTo>
                    <a:pt x="5687314" y="759206"/>
                  </a:lnTo>
                  <a:lnTo>
                    <a:pt x="0" y="75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4553" b="-32455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7391400" y="288798"/>
            <a:ext cx="3994747" cy="519313"/>
            <a:chOff x="0" y="0"/>
            <a:chExt cx="5326329" cy="6924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26380" cy="692404"/>
            </a:xfrm>
            <a:custGeom>
              <a:avLst/>
              <a:gdLst/>
              <a:ahLst/>
              <a:cxnLst/>
              <a:rect l="l" t="t" r="r" b="b"/>
              <a:pathLst>
                <a:path w="5326380" h="692404">
                  <a:moveTo>
                    <a:pt x="0" y="0"/>
                  </a:moveTo>
                  <a:lnTo>
                    <a:pt x="5326380" y="0"/>
                  </a:lnTo>
                  <a:lnTo>
                    <a:pt x="5326380" y="692404"/>
                  </a:lnTo>
                  <a:lnTo>
                    <a:pt x="0" y="692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9" r="-108" b="-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4683530" y="306295"/>
            <a:ext cx="269786" cy="409927"/>
            <a:chOff x="0" y="0"/>
            <a:chExt cx="359715" cy="5465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9664" cy="546608"/>
            </a:xfrm>
            <a:custGeom>
              <a:avLst/>
              <a:gdLst/>
              <a:ahLst/>
              <a:cxnLst/>
              <a:rect l="l" t="t" r="r" b="b"/>
              <a:pathLst>
                <a:path w="359664" h="546608">
                  <a:moveTo>
                    <a:pt x="0" y="0"/>
                  </a:moveTo>
                  <a:lnTo>
                    <a:pt x="359664" y="0"/>
                  </a:lnTo>
                  <a:lnTo>
                    <a:pt x="359664" y="546608"/>
                  </a:lnTo>
                  <a:lnTo>
                    <a:pt x="0" y="54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241" r="-14" b="-1523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265384" y="311734"/>
            <a:ext cx="403984" cy="404489"/>
            <a:chOff x="0" y="0"/>
            <a:chExt cx="538645" cy="5393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8607" cy="539369"/>
            </a:xfrm>
            <a:custGeom>
              <a:avLst/>
              <a:gdLst/>
              <a:ahLst/>
              <a:cxnLst/>
              <a:rect l="l" t="t" r="r" b="b"/>
              <a:pathLst>
                <a:path w="538607" h="539369">
                  <a:moveTo>
                    <a:pt x="0" y="0"/>
                  </a:moveTo>
                  <a:lnTo>
                    <a:pt x="538607" y="0"/>
                  </a:lnTo>
                  <a:lnTo>
                    <a:pt x="538607" y="539369"/>
                  </a:lnTo>
                  <a:lnTo>
                    <a:pt x="0" y="539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55" r="-7" b="-14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7076020" y="311734"/>
            <a:ext cx="910723" cy="356321"/>
            <a:chOff x="0" y="0"/>
            <a:chExt cx="1214298" cy="4750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14247" cy="475107"/>
            </a:xfrm>
            <a:custGeom>
              <a:avLst/>
              <a:gdLst/>
              <a:ahLst/>
              <a:cxnLst/>
              <a:rect l="l" t="t" r="r" b="b"/>
              <a:pathLst>
                <a:path w="1214247" h="475107">
                  <a:moveTo>
                    <a:pt x="0" y="0"/>
                  </a:moveTo>
                  <a:lnTo>
                    <a:pt x="1214247" y="0"/>
                  </a:lnTo>
                  <a:lnTo>
                    <a:pt x="1214247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84" r="-4" b="-179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318341" y="292779"/>
            <a:ext cx="1140628" cy="436969"/>
            <a:chOff x="0" y="0"/>
            <a:chExt cx="1520838" cy="5826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20825" cy="582676"/>
            </a:xfrm>
            <a:custGeom>
              <a:avLst/>
              <a:gdLst/>
              <a:ahLst/>
              <a:cxnLst/>
              <a:rect l="l" t="t" r="r" b="b"/>
              <a:pathLst>
                <a:path w="1520825" h="582676">
                  <a:moveTo>
                    <a:pt x="0" y="0"/>
                  </a:moveTo>
                  <a:lnTo>
                    <a:pt x="1520825" y="0"/>
                  </a:lnTo>
                  <a:lnTo>
                    <a:pt x="1520825" y="582676"/>
                  </a:lnTo>
                  <a:lnTo>
                    <a:pt x="0" y="58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80510" b="-8049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5864040" y="303371"/>
            <a:ext cx="1046836" cy="421224"/>
            <a:chOff x="0" y="0"/>
            <a:chExt cx="1395781" cy="5616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95730" cy="561594"/>
            </a:xfrm>
            <a:custGeom>
              <a:avLst/>
              <a:gdLst/>
              <a:ahLst/>
              <a:cxnLst/>
              <a:rect l="l" t="t" r="r" b="b"/>
              <a:pathLst>
                <a:path w="1395730" h="561594">
                  <a:moveTo>
                    <a:pt x="0" y="0"/>
                  </a:moveTo>
                  <a:lnTo>
                    <a:pt x="1395730" y="0"/>
                  </a:lnTo>
                  <a:lnTo>
                    <a:pt x="1395730" y="561594"/>
                  </a:lnTo>
                  <a:lnTo>
                    <a:pt x="0" y="561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74267" r="-3" b="-7427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4492135" y="313477"/>
            <a:ext cx="19050" cy="386524"/>
            <a:chOff x="0" y="0"/>
            <a:chExt cx="25400" cy="5153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5136787" y="318002"/>
            <a:ext cx="19050" cy="386524"/>
            <a:chOff x="0" y="0"/>
            <a:chExt cx="25400" cy="51536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6911961" y="301904"/>
            <a:ext cx="19050" cy="386524"/>
            <a:chOff x="0" y="0"/>
            <a:chExt cx="25400" cy="51536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5822644" y="318002"/>
            <a:ext cx="19050" cy="386524"/>
            <a:chOff x="0" y="0"/>
            <a:chExt cx="25400" cy="51536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599380" y="2447559"/>
            <a:ext cx="8531923" cy="7387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 energy adoption processes are highly complex and fragmented, lacking an automatic, accessible way for property owners to assess their feasibility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Homeowners and building managers struggle to get accurate, personalized system sizing and realistic financial payback data without specialist consultations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in widespread consumer hesitation, prolonged decision-making, and a drastically slowed transition to renewable energy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Statistic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Studies indicate that manual feasibility quoting and customer acquisition can account for up to 50-60% of the total price of a residential solar installation, acting as a major artificial barrier to widespread adoption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6850" y="1426923"/>
            <a:ext cx="7062904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6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CE65479-BA5B-054D-6E1E-FF63679157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9808" y="2847378"/>
            <a:ext cx="7573432" cy="42773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1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06254" y="888197"/>
            <a:ext cx="17875491" cy="8998296"/>
          </a:xfrm>
          <a:custGeom>
            <a:avLst/>
            <a:gdLst/>
            <a:ahLst/>
            <a:cxnLst/>
            <a:rect l="l" t="t" r="r" b="b"/>
            <a:pathLst>
              <a:path w="17875491" h="8998296">
                <a:moveTo>
                  <a:pt x="0" y="0"/>
                </a:moveTo>
                <a:lnTo>
                  <a:pt x="17875492" y="0"/>
                </a:lnTo>
                <a:lnTo>
                  <a:pt x="17875492" y="8998296"/>
                </a:lnTo>
                <a:lnTo>
                  <a:pt x="0" y="899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6301" y="292779"/>
            <a:ext cx="4265447" cy="569404"/>
            <a:chOff x="0" y="0"/>
            <a:chExt cx="5687263" cy="7592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7314" cy="759206"/>
            </a:xfrm>
            <a:custGeom>
              <a:avLst/>
              <a:gdLst/>
              <a:ahLst/>
              <a:cxnLst/>
              <a:rect l="l" t="t" r="r" b="b"/>
              <a:pathLst>
                <a:path w="5687314" h="759206">
                  <a:moveTo>
                    <a:pt x="0" y="0"/>
                  </a:moveTo>
                  <a:lnTo>
                    <a:pt x="5687314" y="0"/>
                  </a:lnTo>
                  <a:lnTo>
                    <a:pt x="5687314" y="759206"/>
                  </a:lnTo>
                  <a:lnTo>
                    <a:pt x="0" y="75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4553" b="-32455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4683530" y="306295"/>
            <a:ext cx="269786" cy="409927"/>
            <a:chOff x="0" y="0"/>
            <a:chExt cx="359715" cy="5465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9664" cy="546608"/>
            </a:xfrm>
            <a:custGeom>
              <a:avLst/>
              <a:gdLst/>
              <a:ahLst/>
              <a:cxnLst/>
              <a:rect l="l" t="t" r="r" b="b"/>
              <a:pathLst>
                <a:path w="359664" h="546608">
                  <a:moveTo>
                    <a:pt x="0" y="0"/>
                  </a:moveTo>
                  <a:lnTo>
                    <a:pt x="359664" y="0"/>
                  </a:lnTo>
                  <a:lnTo>
                    <a:pt x="359664" y="546608"/>
                  </a:lnTo>
                  <a:lnTo>
                    <a:pt x="0" y="54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241" r="-14" b="-1523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265384" y="311734"/>
            <a:ext cx="403984" cy="404489"/>
            <a:chOff x="0" y="0"/>
            <a:chExt cx="538645" cy="5393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8607" cy="539369"/>
            </a:xfrm>
            <a:custGeom>
              <a:avLst/>
              <a:gdLst/>
              <a:ahLst/>
              <a:cxnLst/>
              <a:rect l="l" t="t" r="r" b="b"/>
              <a:pathLst>
                <a:path w="538607" h="539369">
                  <a:moveTo>
                    <a:pt x="0" y="0"/>
                  </a:moveTo>
                  <a:lnTo>
                    <a:pt x="538607" y="0"/>
                  </a:lnTo>
                  <a:lnTo>
                    <a:pt x="538607" y="539369"/>
                  </a:lnTo>
                  <a:lnTo>
                    <a:pt x="0" y="539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5" r="-7" b="-14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076020" y="311734"/>
            <a:ext cx="910723" cy="356321"/>
            <a:chOff x="0" y="0"/>
            <a:chExt cx="1214298" cy="4750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4247" cy="475107"/>
            </a:xfrm>
            <a:custGeom>
              <a:avLst/>
              <a:gdLst/>
              <a:ahLst/>
              <a:cxnLst/>
              <a:rect l="l" t="t" r="r" b="b"/>
              <a:pathLst>
                <a:path w="1214247" h="475107">
                  <a:moveTo>
                    <a:pt x="0" y="0"/>
                  </a:moveTo>
                  <a:lnTo>
                    <a:pt x="1214247" y="0"/>
                  </a:lnTo>
                  <a:lnTo>
                    <a:pt x="1214247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84" r="-4" b="-17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318341" y="292779"/>
            <a:ext cx="1140628" cy="436969"/>
            <a:chOff x="0" y="0"/>
            <a:chExt cx="1520838" cy="5826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0825" cy="582676"/>
            </a:xfrm>
            <a:custGeom>
              <a:avLst/>
              <a:gdLst/>
              <a:ahLst/>
              <a:cxnLst/>
              <a:rect l="l" t="t" r="r" b="b"/>
              <a:pathLst>
                <a:path w="1520825" h="582676">
                  <a:moveTo>
                    <a:pt x="0" y="0"/>
                  </a:moveTo>
                  <a:lnTo>
                    <a:pt x="1520825" y="0"/>
                  </a:lnTo>
                  <a:lnTo>
                    <a:pt x="1520825" y="582676"/>
                  </a:lnTo>
                  <a:lnTo>
                    <a:pt x="0" y="58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80510" b="-80499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5864040" y="303371"/>
            <a:ext cx="1046836" cy="421224"/>
            <a:chOff x="0" y="0"/>
            <a:chExt cx="1395781" cy="5616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5730" cy="561594"/>
            </a:xfrm>
            <a:custGeom>
              <a:avLst/>
              <a:gdLst/>
              <a:ahLst/>
              <a:cxnLst/>
              <a:rect l="l" t="t" r="r" b="b"/>
              <a:pathLst>
                <a:path w="1395730" h="561594">
                  <a:moveTo>
                    <a:pt x="0" y="0"/>
                  </a:moveTo>
                  <a:lnTo>
                    <a:pt x="1395730" y="0"/>
                  </a:lnTo>
                  <a:lnTo>
                    <a:pt x="1395730" y="561594"/>
                  </a:lnTo>
                  <a:lnTo>
                    <a:pt x="0" y="561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74267" r="-3" b="-7427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4492135" y="313477"/>
            <a:ext cx="19050" cy="386524"/>
            <a:chOff x="0" y="0"/>
            <a:chExt cx="25400" cy="5153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5136787" y="318002"/>
            <a:ext cx="19050" cy="386524"/>
            <a:chOff x="0" y="0"/>
            <a:chExt cx="25400" cy="5153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6911961" y="301904"/>
            <a:ext cx="19050" cy="386524"/>
            <a:chOff x="0" y="0"/>
            <a:chExt cx="25400" cy="51536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5822644" y="318002"/>
            <a:ext cx="19050" cy="386524"/>
            <a:chOff x="0" y="0"/>
            <a:chExt cx="25400" cy="51536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391400" y="288798"/>
            <a:ext cx="3994747" cy="519313"/>
            <a:chOff x="0" y="0"/>
            <a:chExt cx="5326329" cy="69241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26380" cy="692404"/>
            </a:xfrm>
            <a:custGeom>
              <a:avLst/>
              <a:gdLst/>
              <a:ahLst/>
              <a:cxnLst/>
              <a:rect l="l" t="t" r="r" b="b"/>
              <a:pathLst>
                <a:path w="5326380" h="692404">
                  <a:moveTo>
                    <a:pt x="0" y="0"/>
                  </a:moveTo>
                  <a:lnTo>
                    <a:pt x="5326380" y="0"/>
                  </a:lnTo>
                  <a:lnTo>
                    <a:pt x="5326380" y="692404"/>
                  </a:lnTo>
                  <a:lnTo>
                    <a:pt x="0" y="692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9" r="-108" b="-1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856850" y="1426923"/>
            <a:ext cx="7062904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6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7200" y="2706255"/>
            <a:ext cx="17373600" cy="6054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solar feasibility platform that automatically analyzes a building’s historical electricity consumption data and generates a fully personalized solar installation plan — eliminating the need for expert consultation. </a:t>
            </a:r>
          </a:p>
          <a:p>
            <a:pPr marL="604519" lvl="1" indent="-302260">
              <a:lnSpc>
                <a:spcPts val="3359"/>
              </a:lnSpc>
              <a:buFont typeface="Arial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Ingests detailed electricity usage patterns across time-of-day and seasonal cycles to accurately determine the optimal solar capacity for partial or complete grid replacement.</a:t>
            </a:r>
          </a:p>
          <a:p>
            <a:pPr marL="604519" lvl="1" indent="-302260">
              <a:lnSpc>
                <a:spcPts val="3359"/>
              </a:lnSpc>
              <a:buFont typeface="Arial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solar irradiance, geographic, and weather datasets to predict real-world energy generation potential based on the building’s location, orientation, and environmental conditions.</a:t>
            </a:r>
            <a:endParaRPr lang="en-US" sz="2799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marL="604519" lvl="1" indent="-302260">
              <a:lnSpc>
                <a:spcPts val="335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a comprehensive financial blueprint, including panel requirements, rooftop space utilization, installation costs, maintenance estimates, and payback period — all computed automatically from real data.</a:t>
            </a:r>
          </a:p>
          <a:p>
            <a:pPr marL="604519" lvl="1" indent="-302260">
              <a:lnSpc>
                <a:spcPts val="3359"/>
              </a:lnSpc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interactive dashboards showcasing energy consumption trends, projected solar output, CO₂ emission reductions, and financial returns, enabling users to make informed, data-driven decisions at a glance.</a:t>
            </a:r>
            <a:endParaRPr lang="en-US" sz="2799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1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06254" y="876300"/>
            <a:ext cx="17875491" cy="8998296"/>
          </a:xfrm>
          <a:custGeom>
            <a:avLst/>
            <a:gdLst/>
            <a:ahLst/>
            <a:cxnLst/>
            <a:rect l="l" t="t" r="r" b="b"/>
            <a:pathLst>
              <a:path w="17875491" h="8998296">
                <a:moveTo>
                  <a:pt x="0" y="0"/>
                </a:moveTo>
                <a:lnTo>
                  <a:pt x="17875492" y="0"/>
                </a:lnTo>
                <a:lnTo>
                  <a:pt x="17875492" y="8998296"/>
                </a:lnTo>
                <a:lnTo>
                  <a:pt x="0" y="899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6301" y="292779"/>
            <a:ext cx="4265447" cy="569404"/>
            <a:chOff x="0" y="0"/>
            <a:chExt cx="5687263" cy="7592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7314" cy="759206"/>
            </a:xfrm>
            <a:custGeom>
              <a:avLst/>
              <a:gdLst/>
              <a:ahLst/>
              <a:cxnLst/>
              <a:rect l="l" t="t" r="r" b="b"/>
              <a:pathLst>
                <a:path w="5687314" h="759206">
                  <a:moveTo>
                    <a:pt x="0" y="0"/>
                  </a:moveTo>
                  <a:lnTo>
                    <a:pt x="5687314" y="0"/>
                  </a:lnTo>
                  <a:lnTo>
                    <a:pt x="5687314" y="759206"/>
                  </a:lnTo>
                  <a:lnTo>
                    <a:pt x="0" y="75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4553" b="-32455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329024" y="3470223"/>
            <a:ext cx="6015742" cy="4345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Programming Languages</a:t>
            </a:r>
            <a:endParaRPr lang="en-US" sz="27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Python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TypeScript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Models / Logic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Meta Prophet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XGBoost</a:t>
            </a:r>
            <a:endParaRPr lang="en-US" sz="27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 Solar Sizing Algorithm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683530" y="306295"/>
            <a:ext cx="269786" cy="409927"/>
            <a:chOff x="0" y="0"/>
            <a:chExt cx="359715" cy="5465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664" cy="546608"/>
            </a:xfrm>
            <a:custGeom>
              <a:avLst/>
              <a:gdLst/>
              <a:ahLst/>
              <a:cxnLst/>
              <a:rect l="l" t="t" r="r" b="b"/>
              <a:pathLst>
                <a:path w="359664" h="546608">
                  <a:moveTo>
                    <a:pt x="0" y="0"/>
                  </a:moveTo>
                  <a:lnTo>
                    <a:pt x="359664" y="0"/>
                  </a:lnTo>
                  <a:lnTo>
                    <a:pt x="359664" y="546608"/>
                  </a:lnTo>
                  <a:lnTo>
                    <a:pt x="0" y="54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241" r="-14" b="-1523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265384" y="311734"/>
            <a:ext cx="403984" cy="404489"/>
            <a:chOff x="0" y="0"/>
            <a:chExt cx="538645" cy="5393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8607" cy="539369"/>
            </a:xfrm>
            <a:custGeom>
              <a:avLst/>
              <a:gdLst/>
              <a:ahLst/>
              <a:cxnLst/>
              <a:rect l="l" t="t" r="r" b="b"/>
              <a:pathLst>
                <a:path w="538607" h="539369">
                  <a:moveTo>
                    <a:pt x="0" y="0"/>
                  </a:moveTo>
                  <a:lnTo>
                    <a:pt x="538607" y="0"/>
                  </a:lnTo>
                  <a:lnTo>
                    <a:pt x="538607" y="539369"/>
                  </a:lnTo>
                  <a:lnTo>
                    <a:pt x="0" y="539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5" r="-7" b="-14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076020" y="311734"/>
            <a:ext cx="910723" cy="356321"/>
            <a:chOff x="0" y="0"/>
            <a:chExt cx="1214298" cy="4750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4247" cy="475107"/>
            </a:xfrm>
            <a:custGeom>
              <a:avLst/>
              <a:gdLst/>
              <a:ahLst/>
              <a:cxnLst/>
              <a:rect l="l" t="t" r="r" b="b"/>
              <a:pathLst>
                <a:path w="1214247" h="475107">
                  <a:moveTo>
                    <a:pt x="0" y="0"/>
                  </a:moveTo>
                  <a:lnTo>
                    <a:pt x="1214247" y="0"/>
                  </a:lnTo>
                  <a:lnTo>
                    <a:pt x="1214247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84" r="-4" b="-17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318341" y="292779"/>
            <a:ext cx="1140628" cy="436969"/>
            <a:chOff x="0" y="0"/>
            <a:chExt cx="1520838" cy="582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20825" cy="582676"/>
            </a:xfrm>
            <a:custGeom>
              <a:avLst/>
              <a:gdLst/>
              <a:ahLst/>
              <a:cxnLst/>
              <a:rect l="l" t="t" r="r" b="b"/>
              <a:pathLst>
                <a:path w="1520825" h="582676">
                  <a:moveTo>
                    <a:pt x="0" y="0"/>
                  </a:moveTo>
                  <a:lnTo>
                    <a:pt x="1520825" y="0"/>
                  </a:lnTo>
                  <a:lnTo>
                    <a:pt x="1520825" y="582676"/>
                  </a:lnTo>
                  <a:lnTo>
                    <a:pt x="0" y="58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80510" b="-8049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5864040" y="303371"/>
            <a:ext cx="1046836" cy="421224"/>
            <a:chOff x="0" y="0"/>
            <a:chExt cx="1395781" cy="5616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95730" cy="561594"/>
            </a:xfrm>
            <a:custGeom>
              <a:avLst/>
              <a:gdLst/>
              <a:ahLst/>
              <a:cxnLst/>
              <a:rect l="l" t="t" r="r" b="b"/>
              <a:pathLst>
                <a:path w="1395730" h="561594">
                  <a:moveTo>
                    <a:pt x="0" y="0"/>
                  </a:moveTo>
                  <a:lnTo>
                    <a:pt x="1395730" y="0"/>
                  </a:lnTo>
                  <a:lnTo>
                    <a:pt x="1395730" y="561594"/>
                  </a:lnTo>
                  <a:lnTo>
                    <a:pt x="0" y="561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74267" r="-3" b="-7427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4492135" y="313477"/>
            <a:ext cx="19050" cy="386524"/>
            <a:chOff x="0" y="0"/>
            <a:chExt cx="25400" cy="5153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5136787" y="318002"/>
            <a:ext cx="19050" cy="386524"/>
            <a:chOff x="0" y="0"/>
            <a:chExt cx="25400" cy="515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6911961" y="301904"/>
            <a:ext cx="19050" cy="386524"/>
            <a:chOff x="0" y="0"/>
            <a:chExt cx="25400" cy="51536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822644" y="318002"/>
            <a:ext cx="19050" cy="386524"/>
            <a:chOff x="0" y="0"/>
            <a:chExt cx="25400" cy="5153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391400" y="288798"/>
            <a:ext cx="3994747" cy="519313"/>
            <a:chOff x="0" y="0"/>
            <a:chExt cx="5326329" cy="6924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26380" cy="692404"/>
            </a:xfrm>
            <a:custGeom>
              <a:avLst/>
              <a:gdLst/>
              <a:ahLst/>
              <a:cxnLst/>
              <a:rect l="l" t="t" r="r" b="b"/>
              <a:pathLst>
                <a:path w="5326380" h="692404">
                  <a:moveTo>
                    <a:pt x="0" y="0"/>
                  </a:moveTo>
                  <a:lnTo>
                    <a:pt x="5326380" y="0"/>
                  </a:lnTo>
                  <a:lnTo>
                    <a:pt x="5326380" y="692404"/>
                  </a:lnTo>
                  <a:lnTo>
                    <a:pt x="0" y="692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9" r="-108" b="-1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856850" y="1426923"/>
            <a:ext cx="7062904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6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77626" y="3470223"/>
            <a:ext cx="6015742" cy="4345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Frameworks and Libraries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React.js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Tailwind CSS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FastAPI</a:t>
            </a:r>
            <a:endParaRPr lang="en-US" sz="27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Recharts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React Leaflet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PVLIB (Solar Energy Simulation)</a:t>
            </a:r>
          </a:p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 / Storage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MongoDB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1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70143" y="1028700"/>
            <a:ext cx="17875491" cy="8998296"/>
          </a:xfrm>
          <a:custGeom>
            <a:avLst/>
            <a:gdLst/>
            <a:ahLst/>
            <a:cxnLst/>
            <a:rect l="l" t="t" r="r" b="b"/>
            <a:pathLst>
              <a:path w="17875491" h="8998296">
                <a:moveTo>
                  <a:pt x="0" y="0"/>
                </a:moveTo>
                <a:lnTo>
                  <a:pt x="17875492" y="0"/>
                </a:lnTo>
                <a:lnTo>
                  <a:pt x="17875492" y="8998296"/>
                </a:lnTo>
                <a:lnTo>
                  <a:pt x="0" y="899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6301" y="292779"/>
            <a:ext cx="4265447" cy="569404"/>
            <a:chOff x="0" y="0"/>
            <a:chExt cx="5687263" cy="7592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7314" cy="759206"/>
            </a:xfrm>
            <a:custGeom>
              <a:avLst/>
              <a:gdLst/>
              <a:ahLst/>
              <a:cxnLst/>
              <a:rect l="l" t="t" r="r" b="b"/>
              <a:pathLst>
                <a:path w="5687314" h="759206">
                  <a:moveTo>
                    <a:pt x="0" y="0"/>
                  </a:moveTo>
                  <a:lnTo>
                    <a:pt x="5687314" y="0"/>
                  </a:lnTo>
                  <a:lnTo>
                    <a:pt x="5687314" y="759206"/>
                  </a:lnTo>
                  <a:lnTo>
                    <a:pt x="0" y="75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4553" b="-32455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4683530" y="306295"/>
            <a:ext cx="269786" cy="409927"/>
            <a:chOff x="0" y="0"/>
            <a:chExt cx="359715" cy="5465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9664" cy="546608"/>
            </a:xfrm>
            <a:custGeom>
              <a:avLst/>
              <a:gdLst/>
              <a:ahLst/>
              <a:cxnLst/>
              <a:rect l="l" t="t" r="r" b="b"/>
              <a:pathLst>
                <a:path w="359664" h="546608">
                  <a:moveTo>
                    <a:pt x="0" y="0"/>
                  </a:moveTo>
                  <a:lnTo>
                    <a:pt x="359664" y="0"/>
                  </a:lnTo>
                  <a:lnTo>
                    <a:pt x="359664" y="546608"/>
                  </a:lnTo>
                  <a:lnTo>
                    <a:pt x="0" y="54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241" r="-14" b="-15232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265384" y="311734"/>
            <a:ext cx="403984" cy="404489"/>
            <a:chOff x="0" y="0"/>
            <a:chExt cx="538645" cy="5393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38607" cy="539369"/>
            </a:xfrm>
            <a:custGeom>
              <a:avLst/>
              <a:gdLst/>
              <a:ahLst/>
              <a:cxnLst/>
              <a:rect l="l" t="t" r="r" b="b"/>
              <a:pathLst>
                <a:path w="538607" h="539369">
                  <a:moveTo>
                    <a:pt x="0" y="0"/>
                  </a:moveTo>
                  <a:lnTo>
                    <a:pt x="538607" y="0"/>
                  </a:lnTo>
                  <a:lnTo>
                    <a:pt x="538607" y="539369"/>
                  </a:lnTo>
                  <a:lnTo>
                    <a:pt x="0" y="539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5" r="-7" b="-14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076020" y="311734"/>
            <a:ext cx="910723" cy="356321"/>
            <a:chOff x="0" y="0"/>
            <a:chExt cx="1214298" cy="4750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4247" cy="475107"/>
            </a:xfrm>
            <a:custGeom>
              <a:avLst/>
              <a:gdLst/>
              <a:ahLst/>
              <a:cxnLst/>
              <a:rect l="l" t="t" r="r" b="b"/>
              <a:pathLst>
                <a:path w="1214247" h="475107">
                  <a:moveTo>
                    <a:pt x="0" y="0"/>
                  </a:moveTo>
                  <a:lnTo>
                    <a:pt x="1214247" y="0"/>
                  </a:lnTo>
                  <a:lnTo>
                    <a:pt x="1214247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84" r="-4" b="-17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3318341" y="292779"/>
            <a:ext cx="1140628" cy="436969"/>
            <a:chOff x="0" y="0"/>
            <a:chExt cx="1520838" cy="5826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0825" cy="582676"/>
            </a:xfrm>
            <a:custGeom>
              <a:avLst/>
              <a:gdLst/>
              <a:ahLst/>
              <a:cxnLst/>
              <a:rect l="l" t="t" r="r" b="b"/>
              <a:pathLst>
                <a:path w="1520825" h="582676">
                  <a:moveTo>
                    <a:pt x="0" y="0"/>
                  </a:moveTo>
                  <a:lnTo>
                    <a:pt x="1520825" y="0"/>
                  </a:lnTo>
                  <a:lnTo>
                    <a:pt x="1520825" y="582676"/>
                  </a:lnTo>
                  <a:lnTo>
                    <a:pt x="0" y="58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80510" b="-80499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5864040" y="303371"/>
            <a:ext cx="1046836" cy="421224"/>
            <a:chOff x="0" y="0"/>
            <a:chExt cx="1395781" cy="5616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5730" cy="561594"/>
            </a:xfrm>
            <a:custGeom>
              <a:avLst/>
              <a:gdLst/>
              <a:ahLst/>
              <a:cxnLst/>
              <a:rect l="l" t="t" r="r" b="b"/>
              <a:pathLst>
                <a:path w="1395730" h="561594">
                  <a:moveTo>
                    <a:pt x="0" y="0"/>
                  </a:moveTo>
                  <a:lnTo>
                    <a:pt x="1395730" y="0"/>
                  </a:lnTo>
                  <a:lnTo>
                    <a:pt x="1395730" y="561594"/>
                  </a:lnTo>
                  <a:lnTo>
                    <a:pt x="0" y="561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74267" r="-3" b="-7427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4492135" y="313477"/>
            <a:ext cx="19050" cy="386524"/>
            <a:chOff x="0" y="0"/>
            <a:chExt cx="25400" cy="5153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5136787" y="318002"/>
            <a:ext cx="19050" cy="386524"/>
            <a:chOff x="0" y="0"/>
            <a:chExt cx="25400" cy="5153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6911961" y="301904"/>
            <a:ext cx="19050" cy="386524"/>
            <a:chOff x="0" y="0"/>
            <a:chExt cx="25400" cy="51536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5822644" y="318002"/>
            <a:ext cx="19050" cy="386524"/>
            <a:chOff x="0" y="0"/>
            <a:chExt cx="25400" cy="51536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7391400" y="288798"/>
            <a:ext cx="3994747" cy="519313"/>
            <a:chOff x="0" y="0"/>
            <a:chExt cx="5326329" cy="69241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26380" cy="692404"/>
            </a:xfrm>
            <a:custGeom>
              <a:avLst/>
              <a:gdLst/>
              <a:ahLst/>
              <a:cxnLst/>
              <a:rect l="l" t="t" r="r" b="b"/>
              <a:pathLst>
                <a:path w="5326380" h="692404">
                  <a:moveTo>
                    <a:pt x="0" y="0"/>
                  </a:moveTo>
                  <a:lnTo>
                    <a:pt x="5326380" y="0"/>
                  </a:lnTo>
                  <a:lnTo>
                    <a:pt x="5326380" y="692404"/>
                  </a:lnTo>
                  <a:lnTo>
                    <a:pt x="0" y="692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9" r="-108" b="-1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856850" y="2847314"/>
            <a:ext cx="16961817" cy="346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Steps:</a:t>
            </a:r>
          </a:p>
          <a:p>
            <a:pPr algn="l">
              <a:lnSpc>
                <a:spcPts val="3359"/>
              </a:lnSpc>
            </a:pPr>
            <a:endParaRPr lang="en-US" sz="27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Ingestion &amp; Building Profile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Consumption Analysis &amp; Forecasting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 Potential Estimation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Optimal System Sizing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Viability Report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Advisory &amp; Dashboard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98413" y="8023218"/>
            <a:ext cx="2539198" cy="1164181"/>
            <a:chOff x="0" y="0"/>
            <a:chExt cx="177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72800" cy="812800"/>
            </a:xfrm>
            <a:custGeom>
              <a:avLst/>
              <a:gdLst/>
              <a:ahLst/>
              <a:cxnLst/>
              <a:rect l="l" t="t" r="r" b="b"/>
              <a:pathLst>
                <a:path w="1772800" h="812800">
                  <a:moveTo>
                    <a:pt x="1772800" y="45734"/>
                  </a:moveTo>
                  <a:lnTo>
                    <a:pt x="1772800" y="767066"/>
                  </a:lnTo>
                  <a:cubicBezTo>
                    <a:pt x="1772800" y="792324"/>
                    <a:pt x="1752324" y="812800"/>
                    <a:pt x="1727066" y="812800"/>
                  </a:cubicBezTo>
                  <a:lnTo>
                    <a:pt x="45734" y="812800"/>
                  </a:lnTo>
                  <a:cubicBezTo>
                    <a:pt x="20476" y="812800"/>
                    <a:pt x="0" y="792324"/>
                    <a:pt x="0" y="767066"/>
                  </a:cubicBezTo>
                  <a:lnTo>
                    <a:pt x="0" y="45734"/>
                  </a:lnTo>
                  <a:cubicBezTo>
                    <a:pt x="0" y="20476"/>
                    <a:pt x="20476" y="0"/>
                    <a:pt x="45734" y="0"/>
                  </a:cubicBezTo>
                  <a:lnTo>
                    <a:pt x="1727066" y="0"/>
                  </a:lnTo>
                  <a:cubicBezTo>
                    <a:pt x="1752324" y="0"/>
                    <a:pt x="1772800" y="20476"/>
                    <a:pt x="1772800" y="45734"/>
                  </a:cubicBezTo>
                  <a:close/>
                </a:path>
              </a:pathLst>
            </a:custGeom>
            <a:solidFill>
              <a:srgbClr val="F8FBFD">
                <a:alpha val="89804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177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1"/>
                </a:lnSpc>
              </a:pPr>
              <a:r>
                <a:rPr lang="en-US" sz="2157" dirty="0">
                  <a:solidFill>
                    <a:srgbClr val="000000">
                      <a:alpha val="89804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Data ingestion </a:t>
              </a:r>
            </a:p>
            <a:p>
              <a:pPr algn="ctr">
                <a:lnSpc>
                  <a:spcPts val="3021"/>
                </a:lnSpc>
              </a:pPr>
              <a:r>
                <a:rPr lang="en-US" sz="2157" dirty="0">
                  <a:solidFill>
                    <a:srgbClr val="000000">
                      <a:alpha val="89804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&amp; building profile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856850" y="1426923"/>
            <a:ext cx="7062904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6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3192187" y="8021770"/>
            <a:ext cx="2539198" cy="1164181"/>
            <a:chOff x="0" y="0"/>
            <a:chExt cx="177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72800" cy="812800"/>
            </a:xfrm>
            <a:custGeom>
              <a:avLst/>
              <a:gdLst/>
              <a:ahLst/>
              <a:cxnLst/>
              <a:rect l="l" t="t" r="r" b="b"/>
              <a:pathLst>
                <a:path w="1772800" h="812800">
                  <a:moveTo>
                    <a:pt x="1772800" y="45734"/>
                  </a:moveTo>
                  <a:lnTo>
                    <a:pt x="1772800" y="767066"/>
                  </a:lnTo>
                  <a:cubicBezTo>
                    <a:pt x="1772800" y="792324"/>
                    <a:pt x="1752324" y="812800"/>
                    <a:pt x="1727066" y="812800"/>
                  </a:cubicBezTo>
                  <a:lnTo>
                    <a:pt x="45734" y="812800"/>
                  </a:lnTo>
                  <a:cubicBezTo>
                    <a:pt x="20476" y="812800"/>
                    <a:pt x="0" y="792324"/>
                    <a:pt x="0" y="767066"/>
                  </a:cubicBezTo>
                  <a:lnTo>
                    <a:pt x="0" y="45734"/>
                  </a:lnTo>
                  <a:cubicBezTo>
                    <a:pt x="0" y="20476"/>
                    <a:pt x="20476" y="0"/>
                    <a:pt x="45734" y="0"/>
                  </a:cubicBezTo>
                  <a:lnTo>
                    <a:pt x="1727066" y="0"/>
                  </a:lnTo>
                  <a:cubicBezTo>
                    <a:pt x="1752324" y="0"/>
                    <a:pt x="1772800" y="20476"/>
                    <a:pt x="1772800" y="45734"/>
                  </a:cubicBezTo>
                  <a:close/>
                </a:path>
              </a:pathLst>
            </a:custGeom>
            <a:solidFill>
              <a:srgbClr val="F8FBFD">
                <a:alpha val="89804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177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1"/>
                </a:lnSpc>
              </a:pPr>
              <a:r>
                <a:rPr lang="en-US" sz="2157" dirty="0">
                  <a:solidFill>
                    <a:srgbClr val="000000">
                      <a:alpha val="89804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Commercial Analysis &amp; Forecasting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35805" y="8020699"/>
            <a:ext cx="2539198" cy="1164181"/>
            <a:chOff x="0" y="0"/>
            <a:chExt cx="177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72800" cy="812800"/>
            </a:xfrm>
            <a:custGeom>
              <a:avLst/>
              <a:gdLst/>
              <a:ahLst/>
              <a:cxnLst/>
              <a:rect l="l" t="t" r="r" b="b"/>
              <a:pathLst>
                <a:path w="1772800" h="812800">
                  <a:moveTo>
                    <a:pt x="1772800" y="45734"/>
                  </a:moveTo>
                  <a:lnTo>
                    <a:pt x="1772800" y="767066"/>
                  </a:lnTo>
                  <a:cubicBezTo>
                    <a:pt x="1772800" y="792324"/>
                    <a:pt x="1752324" y="812800"/>
                    <a:pt x="1727066" y="812800"/>
                  </a:cubicBezTo>
                  <a:lnTo>
                    <a:pt x="45734" y="812800"/>
                  </a:lnTo>
                  <a:cubicBezTo>
                    <a:pt x="20476" y="812800"/>
                    <a:pt x="0" y="792324"/>
                    <a:pt x="0" y="767066"/>
                  </a:cubicBezTo>
                  <a:lnTo>
                    <a:pt x="0" y="45734"/>
                  </a:lnTo>
                  <a:cubicBezTo>
                    <a:pt x="0" y="20476"/>
                    <a:pt x="20476" y="0"/>
                    <a:pt x="45734" y="0"/>
                  </a:cubicBezTo>
                  <a:lnTo>
                    <a:pt x="1727066" y="0"/>
                  </a:lnTo>
                  <a:cubicBezTo>
                    <a:pt x="1752324" y="0"/>
                    <a:pt x="1772800" y="20476"/>
                    <a:pt x="1772800" y="45734"/>
                  </a:cubicBezTo>
                  <a:close/>
                </a:path>
              </a:pathLst>
            </a:custGeom>
            <a:solidFill>
              <a:srgbClr val="F8FBFD">
                <a:alpha val="89804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177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1"/>
                </a:lnSpc>
              </a:pPr>
              <a:r>
                <a:rPr lang="en-US" sz="2157" dirty="0">
                  <a:solidFill>
                    <a:srgbClr val="000000">
                      <a:alpha val="89804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Solar Potential Estimation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895369" y="8020698"/>
            <a:ext cx="2539198" cy="1164181"/>
            <a:chOff x="0" y="0"/>
            <a:chExt cx="177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772800" cy="812800"/>
            </a:xfrm>
            <a:custGeom>
              <a:avLst/>
              <a:gdLst/>
              <a:ahLst/>
              <a:cxnLst/>
              <a:rect l="l" t="t" r="r" b="b"/>
              <a:pathLst>
                <a:path w="1772800" h="812800">
                  <a:moveTo>
                    <a:pt x="1772800" y="45734"/>
                  </a:moveTo>
                  <a:lnTo>
                    <a:pt x="1772800" y="767066"/>
                  </a:lnTo>
                  <a:cubicBezTo>
                    <a:pt x="1772800" y="792324"/>
                    <a:pt x="1752324" y="812800"/>
                    <a:pt x="1727066" y="812800"/>
                  </a:cubicBezTo>
                  <a:lnTo>
                    <a:pt x="45734" y="812800"/>
                  </a:lnTo>
                  <a:cubicBezTo>
                    <a:pt x="20476" y="812800"/>
                    <a:pt x="0" y="792324"/>
                    <a:pt x="0" y="767066"/>
                  </a:cubicBezTo>
                  <a:lnTo>
                    <a:pt x="0" y="45734"/>
                  </a:lnTo>
                  <a:cubicBezTo>
                    <a:pt x="0" y="20476"/>
                    <a:pt x="20476" y="0"/>
                    <a:pt x="45734" y="0"/>
                  </a:cubicBezTo>
                  <a:lnTo>
                    <a:pt x="1727066" y="0"/>
                  </a:lnTo>
                  <a:cubicBezTo>
                    <a:pt x="1752324" y="0"/>
                    <a:pt x="1772800" y="20476"/>
                    <a:pt x="1772800" y="45734"/>
                  </a:cubicBezTo>
                  <a:close/>
                </a:path>
              </a:pathLst>
            </a:custGeom>
            <a:solidFill>
              <a:srgbClr val="F8FBFD">
                <a:alpha val="89804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177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1"/>
                </a:lnSpc>
              </a:pPr>
              <a:r>
                <a:rPr lang="en-US" sz="2157" dirty="0">
                  <a:solidFill>
                    <a:srgbClr val="000000">
                      <a:alpha val="89804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System Sizing &amp; Optimization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799685" y="8020698"/>
            <a:ext cx="2539198" cy="1164181"/>
            <a:chOff x="0" y="0"/>
            <a:chExt cx="177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772800" cy="812800"/>
            </a:xfrm>
            <a:custGeom>
              <a:avLst/>
              <a:gdLst/>
              <a:ahLst/>
              <a:cxnLst/>
              <a:rect l="l" t="t" r="r" b="b"/>
              <a:pathLst>
                <a:path w="1772800" h="812800">
                  <a:moveTo>
                    <a:pt x="1772800" y="45734"/>
                  </a:moveTo>
                  <a:lnTo>
                    <a:pt x="1772800" y="767066"/>
                  </a:lnTo>
                  <a:cubicBezTo>
                    <a:pt x="1772800" y="792324"/>
                    <a:pt x="1752324" y="812800"/>
                    <a:pt x="1727066" y="812800"/>
                  </a:cubicBezTo>
                  <a:lnTo>
                    <a:pt x="45734" y="812800"/>
                  </a:lnTo>
                  <a:cubicBezTo>
                    <a:pt x="20476" y="812800"/>
                    <a:pt x="0" y="792324"/>
                    <a:pt x="0" y="767066"/>
                  </a:cubicBezTo>
                  <a:lnTo>
                    <a:pt x="0" y="45734"/>
                  </a:lnTo>
                  <a:cubicBezTo>
                    <a:pt x="0" y="20476"/>
                    <a:pt x="20476" y="0"/>
                    <a:pt x="45734" y="0"/>
                  </a:cubicBezTo>
                  <a:lnTo>
                    <a:pt x="1727066" y="0"/>
                  </a:lnTo>
                  <a:cubicBezTo>
                    <a:pt x="1752324" y="0"/>
                    <a:pt x="1772800" y="20476"/>
                    <a:pt x="1772800" y="45734"/>
                  </a:cubicBezTo>
                  <a:close/>
                </a:path>
              </a:pathLst>
            </a:custGeom>
            <a:solidFill>
              <a:srgbClr val="F8FBFD">
                <a:alpha val="89804"/>
              </a:srgbClr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177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1"/>
                </a:lnSpc>
              </a:pPr>
              <a:r>
                <a:rPr lang="en-US" sz="2157" dirty="0">
                  <a:solidFill>
                    <a:srgbClr val="000000">
                      <a:alpha val="89804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Financial Viability report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>
            <a:off x="2837611" y="8603861"/>
            <a:ext cx="3293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5" name="AutoShape 45"/>
          <p:cNvSpPr/>
          <p:nvPr/>
        </p:nvSpPr>
        <p:spPr>
          <a:xfrm>
            <a:off x="5731385" y="8602790"/>
            <a:ext cx="3293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6" name="AutoShape 46"/>
          <p:cNvSpPr/>
          <p:nvPr/>
        </p:nvSpPr>
        <p:spPr>
          <a:xfrm>
            <a:off x="8575003" y="8602789"/>
            <a:ext cx="3293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7" name="AutoShape 47"/>
          <p:cNvSpPr/>
          <p:nvPr/>
        </p:nvSpPr>
        <p:spPr>
          <a:xfrm>
            <a:off x="11434567" y="8602788"/>
            <a:ext cx="3293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8" name="Group 41">
            <a:extLst>
              <a:ext uri="{FF2B5EF4-FFF2-40B4-BE49-F238E27FC236}">
                <a16:creationId xmlns:a16="http://schemas.microsoft.com/office/drawing/2014/main" id="{8057EBDB-D16F-7206-2D08-212AF1FA290E}"/>
              </a:ext>
            </a:extLst>
          </p:cNvPr>
          <p:cNvGrpSpPr/>
          <p:nvPr/>
        </p:nvGrpSpPr>
        <p:grpSpPr>
          <a:xfrm>
            <a:off x="14741792" y="8013094"/>
            <a:ext cx="2539198" cy="1164181"/>
            <a:chOff x="0" y="0"/>
            <a:chExt cx="1772800" cy="812800"/>
          </a:xfrm>
        </p:grpSpPr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id="{7E9A653A-DFF5-D688-76D8-14685D9D9B80}"/>
                </a:ext>
              </a:extLst>
            </p:cNvPr>
            <p:cNvSpPr/>
            <p:nvPr/>
          </p:nvSpPr>
          <p:spPr>
            <a:xfrm>
              <a:off x="0" y="0"/>
              <a:ext cx="1772800" cy="812800"/>
            </a:xfrm>
            <a:custGeom>
              <a:avLst/>
              <a:gdLst/>
              <a:ahLst/>
              <a:cxnLst/>
              <a:rect l="l" t="t" r="r" b="b"/>
              <a:pathLst>
                <a:path w="1772800" h="812800">
                  <a:moveTo>
                    <a:pt x="1772800" y="45734"/>
                  </a:moveTo>
                  <a:lnTo>
                    <a:pt x="1772800" y="767066"/>
                  </a:lnTo>
                  <a:cubicBezTo>
                    <a:pt x="1772800" y="792324"/>
                    <a:pt x="1752324" y="812800"/>
                    <a:pt x="1727066" y="812800"/>
                  </a:cubicBezTo>
                  <a:lnTo>
                    <a:pt x="45734" y="812800"/>
                  </a:lnTo>
                  <a:cubicBezTo>
                    <a:pt x="20476" y="812800"/>
                    <a:pt x="0" y="792324"/>
                    <a:pt x="0" y="767066"/>
                  </a:cubicBezTo>
                  <a:lnTo>
                    <a:pt x="0" y="45734"/>
                  </a:lnTo>
                  <a:cubicBezTo>
                    <a:pt x="0" y="20476"/>
                    <a:pt x="20476" y="0"/>
                    <a:pt x="45734" y="0"/>
                  </a:cubicBezTo>
                  <a:lnTo>
                    <a:pt x="1727066" y="0"/>
                  </a:lnTo>
                  <a:cubicBezTo>
                    <a:pt x="1752324" y="0"/>
                    <a:pt x="1772800" y="20476"/>
                    <a:pt x="1772800" y="45734"/>
                  </a:cubicBezTo>
                  <a:close/>
                </a:path>
              </a:pathLst>
            </a:custGeom>
            <a:solidFill>
              <a:srgbClr val="F8FBFD">
                <a:alpha val="89804"/>
              </a:srgbClr>
            </a:solidFill>
          </p:spPr>
        </p:sp>
        <p:sp>
          <p:nvSpPr>
            <p:cNvPr id="50" name="TextBox 43">
              <a:extLst>
                <a:ext uri="{FF2B5EF4-FFF2-40B4-BE49-F238E27FC236}">
                  <a16:creationId xmlns:a16="http://schemas.microsoft.com/office/drawing/2014/main" id="{16BD6E58-5E9E-C3BB-527E-0F09609B3A5C}"/>
                </a:ext>
              </a:extLst>
            </p:cNvPr>
            <p:cNvSpPr txBox="1"/>
            <p:nvPr/>
          </p:nvSpPr>
          <p:spPr>
            <a:xfrm>
              <a:off x="0" y="-66675"/>
              <a:ext cx="177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21"/>
                </a:lnSpc>
              </a:pPr>
              <a:r>
                <a:rPr lang="en-US" sz="2157" dirty="0">
                  <a:solidFill>
                    <a:srgbClr val="000000">
                      <a:alpha val="89804"/>
                    </a:srgbClr>
                  </a:solidFill>
                  <a:latin typeface="Poppins"/>
                  <a:ea typeface="Poppins"/>
                  <a:cs typeface="Poppins"/>
                  <a:sym typeface="Poppins"/>
                </a:rPr>
                <a:t>AI Advisory and Dashboard</a:t>
              </a:r>
            </a:p>
          </p:txBody>
        </p:sp>
      </p:grpSp>
      <p:sp>
        <p:nvSpPr>
          <p:cNvPr id="51" name="AutoShape 47">
            <a:extLst>
              <a:ext uri="{FF2B5EF4-FFF2-40B4-BE49-F238E27FC236}">
                <a16:creationId xmlns:a16="http://schemas.microsoft.com/office/drawing/2014/main" id="{A3AA6FC9-1FF0-D468-2515-A07095AB6F26}"/>
              </a:ext>
            </a:extLst>
          </p:cNvPr>
          <p:cNvSpPr/>
          <p:nvPr/>
        </p:nvSpPr>
        <p:spPr>
          <a:xfrm>
            <a:off x="14352916" y="8595185"/>
            <a:ext cx="32930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1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06254" y="888197"/>
            <a:ext cx="17875491" cy="8998296"/>
          </a:xfrm>
          <a:custGeom>
            <a:avLst/>
            <a:gdLst/>
            <a:ahLst/>
            <a:cxnLst/>
            <a:rect l="l" t="t" r="r" b="b"/>
            <a:pathLst>
              <a:path w="17875491" h="8998296">
                <a:moveTo>
                  <a:pt x="0" y="0"/>
                </a:moveTo>
                <a:lnTo>
                  <a:pt x="17875492" y="0"/>
                </a:lnTo>
                <a:lnTo>
                  <a:pt x="17875492" y="8998296"/>
                </a:lnTo>
                <a:lnTo>
                  <a:pt x="0" y="899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6301" y="292779"/>
            <a:ext cx="4265447" cy="569404"/>
            <a:chOff x="0" y="0"/>
            <a:chExt cx="5687263" cy="7592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7314" cy="759206"/>
            </a:xfrm>
            <a:custGeom>
              <a:avLst/>
              <a:gdLst/>
              <a:ahLst/>
              <a:cxnLst/>
              <a:rect l="l" t="t" r="r" b="b"/>
              <a:pathLst>
                <a:path w="5687314" h="759206">
                  <a:moveTo>
                    <a:pt x="0" y="0"/>
                  </a:moveTo>
                  <a:lnTo>
                    <a:pt x="5687314" y="0"/>
                  </a:lnTo>
                  <a:lnTo>
                    <a:pt x="5687314" y="759206"/>
                  </a:lnTo>
                  <a:lnTo>
                    <a:pt x="0" y="75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4553" b="-32455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231200" y="2899592"/>
            <a:ext cx="6160200" cy="5643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Benefits: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 owners and building owners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and local communities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 installer and policymakers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Change It Brings: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Simplifies complex solar feasibility assessment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Promotes transition to renewable energy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Accelerates decision-making for solar investments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carbon footprints of buildings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683530" y="306295"/>
            <a:ext cx="269786" cy="409927"/>
            <a:chOff x="0" y="0"/>
            <a:chExt cx="359715" cy="5465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664" cy="546608"/>
            </a:xfrm>
            <a:custGeom>
              <a:avLst/>
              <a:gdLst/>
              <a:ahLst/>
              <a:cxnLst/>
              <a:rect l="l" t="t" r="r" b="b"/>
              <a:pathLst>
                <a:path w="359664" h="546608">
                  <a:moveTo>
                    <a:pt x="0" y="0"/>
                  </a:moveTo>
                  <a:lnTo>
                    <a:pt x="359664" y="0"/>
                  </a:lnTo>
                  <a:lnTo>
                    <a:pt x="359664" y="546608"/>
                  </a:lnTo>
                  <a:lnTo>
                    <a:pt x="0" y="54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241" r="-14" b="-1523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265384" y="311734"/>
            <a:ext cx="403984" cy="404489"/>
            <a:chOff x="0" y="0"/>
            <a:chExt cx="538645" cy="5393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8607" cy="539369"/>
            </a:xfrm>
            <a:custGeom>
              <a:avLst/>
              <a:gdLst/>
              <a:ahLst/>
              <a:cxnLst/>
              <a:rect l="l" t="t" r="r" b="b"/>
              <a:pathLst>
                <a:path w="538607" h="539369">
                  <a:moveTo>
                    <a:pt x="0" y="0"/>
                  </a:moveTo>
                  <a:lnTo>
                    <a:pt x="538607" y="0"/>
                  </a:lnTo>
                  <a:lnTo>
                    <a:pt x="538607" y="539369"/>
                  </a:lnTo>
                  <a:lnTo>
                    <a:pt x="0" y="539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5" r="-7" b="-14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076020" y="311734"/>
            <a:ext cx="910723" cy="356321"/>
            <a:chOff x="0" y="0"/>
            <a:chExt cx="1214298" cy="4750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4247" cy="475107"/>
            </a:xfrm>
            <a:custGeom>
              <a:avLst/>
              <a:gdLst/>
              <a:ahLst/>
              <a:cxnLst/>
              <a:rect l="l" t="t" r="r" b="b"/>
              <a:pathLst>
                <a:path w="1214247" h="475107">
                  <a:moveTo>
                    <a:pt x="0" y="0"/>
                  </a:moveTo>
                  <a:lnTo>
                    <a:pt x="1214247" y="0"/>
                  </a:lnTo>
                  <a:lnTo>
                    <a:pt x="1214247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84" r="-4" b="-17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318341" y="292779"/>
            <a:ext cx="1140628" cy="436969"/>
            <a:chOff x="0" y="0"/>
            <a:chExt cx="1520838" cy="582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20825" cy="582676"/>
            </a:xfrm>
            <a:custGeom>
              <a:avLst/>
              <a:gdLst/>
              <a:ahLst/>
              <a:cxnLst/>
              <a:rect l="l" t="t" r="r" b="b"/>
              <a:pathLst>
                <a:path w="1520825" h="582676">
                  <a:moveTo>
                    <a:pt x="0" y="0"/>
                  </a:moveTo>
                  <a:lnTo>
                    <a:pt x="1520825" y="0"/>
                  </a:lnTo>
                  <a:lnTo>
                    <a:pt x="1520825" y="582676"/>
                  </a:lnTo>
                  <a:lnTo>
                    <a:pt x="0" y="58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80510" b="-8049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5864040" y="303371"/>
            <a:ext cx="1046836" cy="421224"/>
            <a:chOff x="0" y="0"/>
            <a:chExt cx="1395781" cy="5616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95730" cy="561594"/>
            </a:xfrm>
            <a:custGeom>
              <a:avLst/>
              <a:gdLst/>
              <a:ahLst/>
              <a:cxnLst/>
              <a:rect l="l" t="t" r="r" b="b"/>
              <a:pathLst>
                <a:path w="1395730" h="561594">
                  <a:moveTo>
                    <a:pt x="0" y="0"/>
                  </a:moveTo>
                  <a:lnTo>
                    <a:pt x="1395730" y="0"/>
                  </a:lnTo>
                  <a:lnTo>
                    <a:pt x="1395730" y="561594"/>
                  </a:lnTo>
                  <a:lnTo>
                    <a:pt x="0" y="561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74267" r="-3" b="-7427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4492135" y="313477"/>
            <a:ext cx="19050" cy="386524"/>
            <a:chOff x="0" y="0"/>
            <a:chExt cx="25400" cy="5153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5136787" y="318002"/>
            <a:ext cx="19050" cy="386524"/>
            <a:chOff x="0" y="0"/>
            <a:chExt cx="25400" cy="515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6911961" y="301904"/>
            <a:ext cx="19050" cy="386524"/>
            <a:chOff x="0" y="0"/>
            <a:chExt cx="25400" cy="51536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822644" y="318002"/>
            <a:ext cx="19050" cy="386524"/>
            <a:chOff x="0" y="0"/>
            <a:chExt cx="25400" cy="5153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391400" y="288798"/>
            <a:ext cx="3994747" cy="519313"/>
            <a:chOff x="0" y="0"/>
            <a:chExt cx="5326329" cy="6924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26380" cy="692404"/>
            </a:xfrm>
            <a:custGeom>
              <a:avLst/>
              <a:gdLst/>
              <a:ahLst/>
              <a:cxnLst/>
              <a:rect l="l" t="t" r="r" b="b"/>
              <a:pathLst>
                <a:path w="5326380" h="692404">
                  <a:moveTo>
                    <a:pt x="0" y="0"/>
                  </a:moveTo>
                  <a:lnTo>
                    <a:pt x="5326380" y="0"/>
                  </a:lnTo>
                  <a:lnTo>
                    <a:pt x="5326380" y="692404"/>
                  </a:lnTo>
                  <a:lnTo>
                    <a:pt x="0" y="692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9" r="-108" b="-1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870699" y="1433012"/>
            <a:ext cx="7062904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6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Impact: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31303" y="2899592"/>
            <a:ext cx="6320023" cy="7387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property owners with instant, easy-to-understand system sizing and financial payback data without needing expert consultations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Drives the shift toward clean energy adoption, reducing the community's dependency on traditional power grids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Turns a lengthy planning process into a quick upload-and-view experience, making solar adoption accessible to everyone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tangible metrics on CO₂ offsets (like equivalent trees planted), allowing users to see their direct environmental contribution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1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11214" y="881233"/>
            <a:ext cx="17875491" cy="8998296"/>
          </a:xfrm>
          <a:custGeom>
            <a:avLst/>
            <a:gdLst/>
            <a:ahLst/>
            <a:cxnLst/>
            <a:rect l="l" t="t" r="r" b="b"/>
            <a:pathLst>
              <a:path w="17875491" h="8998296">
                <a:moveTo>
                  <a:pt x="0" y="0"/>
                </a:moveTo>
                <a:lnTo>
                  <a:pt x="17875492" y="0"/>
                </a:lnTo>
                <a:lnTo>
                  <a:pt x="17875492" y="8998296"/>
                </a:lnTo>
                <a:lnTo>
                  <a:pt x="0" y="899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6301" y="292779"/>
            <a:ext cx="4265447" cy="569404"/>
            <a:chOff x="0" y="0"/>
            <a:chExt cx="5687263" cy="7592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7314" cy="759206"/>
            </a:xfrm>
            <a:custGeom>
              <a:avLst/>
              <a:gdLst/>
              <a:ahLst/>
              <a:cxnLst/>
              <a:rect l="l" t="t" r="r" b="b"/>
              <a:pathLst>
                <a:path w="5687314" h="759206">
                  <a:moveTo>
                    <a:pt x="0" y="0"/>
                  </a:moveTo>
                  <a:lnTo>
                    <a:pt x="5687314" y="0"/>
                  </a:lnTo>
                  <a:lnTo>
                    <a:pt x="5687314" y="759206"/>
                  </a:lnTo>
                  <a:lnTo>
                    <a:pt x="0" y="75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4553" b="-32455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11475" y="2536709"/>
            <a:ext cx="17239655" cy="7823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a lightweight web-based application accessible directly from standard desktop and mobile browsers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only basic, easily accessible inputs, seamlessly processing standard electricity bill images or PDFs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reliably with established global datasets for precise solar irradiance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using highly scalable, industry-standard modern web technologies</a:t>
            </a:r>
          </a:p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Innovation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AI-powered OCR bill parsing with dynamic, custom solar sizing algorithms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interactive geospatial mapping to pinpoint exact building coordinates for localized solar data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immediate financial forecasting alongside clear, tangible environmental metrics (like CO₂ offset)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a unified, end-to-end platform transitioning users from basic utility data to a complete solar action plan</a:t>
            </a:r>
          </a:p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smoothly on everyday smartphones, enabling homeowners to simply snap a photo of their electricity bill to get started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system sizing and recommendations based on the user's actual extracted consumption data rather than generic estimates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Empowers property owners by translating complex solar feasibility math into interactive, easy-to-understand visual dashboards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683530" y="306295"/>
            <a:ext cx="269786" cy="409927"/>
            <a:chOff x="0" y="0"/>
            <a:chExt cx="359715" cy="5465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664" cy="546608"/>
            </a:xfrm>
            <a:custGeom>
              <a:avLst/>
              <a:gdLst/>
              <a:ahLst/>
              <a:cxnLst/>
              <a:rect l="l" t="t" r="r" b="b"/>
              <a:pathLst>
                <a:path w="359664" h="546608">
                  <a:moveTo>
                    <a:pt x="0" y="0"/>
                  </a:moveTo>
                  <a:lnTo>
                    <a:pt x="359664" y="0"/>
                  </a:lnTo>
                  <a:lnTo>
                    <a:pt x="359664" y="546608"/>
                  </a:lnTo>
                  <a:lnTo>
                    <a:pt x="0" y="54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241" r="-14" b="-1523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265384" y="311734"/>
            <a:ext cx="403984" cy="404489"/>
            <a:chOff x="0" y="0"/>
            <a:chExt cx="538645" cy="5393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8607" cy="539369"/>
            </a:xfrm>
            <a:custGeom>
              <a:avLst/>
              <a:gdLst/>
              <a:ahLst/>
              <a:cxnLst/>
              <a:rect l="l" t="t" r="r" b="b"/>
              <a:pathLst>
                <a:path w="538607" h="539369">
                  <a:moveTo>
                    <a:pt x="0" y="0"/>
                  </a:moveTo>
                  <a:lnTo>
                    <a:pt x="538607" y="0"/>
                  </a:lnTo>
                  <a:lnTo>
                    <a:pt x="538607" y="539369"/>
                  </a:lnTo>
                  <a:lnTo>
                    <a:pt x="0" y="539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5" r="-7" b="-14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076020" y="311734"/>
            <a:ext cx="910723" cy="356321"/>
            <a:chOff x="0" y="0"/>
            <a:chExt cx="1214298" cy="4750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4247" cy="475107"/>
            </a:xfrm>
            <a:custGeom>
              <a:avLst/>
              <a:gdLst/>
              <a:ahLst/>
              <a:cxnLst/>
              <a:rect l="l" t="t" r="r" b="b"/>
              <a:pathLst>
                <a:path w="1214247" h="475107">
                  <a:moveTo>
                    <a:pt x="0" y="0"/>
                  </a:moveTo>
                  <a:lnTo>
                    <a:pt x="1214247" y="0"/>
                  </a:lnTo>
                  <a:lnTo>
                    <a:pt x="1214247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84" r="-4" b="-17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318341" y="292779"/>
            <a:ext cx="1140628" cy="436969"/>
            <a:chOff x="0" y="0"/>
            <a:chExt cx="1520838" cy="582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20825" cy="582676"/>
            </a:xfrm>
            <a:custGeom>
              <a:avLst/>
              <a:gdLst/>
              <a:ahLst/>
              <a:cxnLst/>
              <a:rect l="l" t="t" r="r" b="b"/>
              <a:pathLst>
                <a:path w="1520825" h="582676">
                  <a:moveTo>
                    <a:pt x="0" y="0"/>
                  </a:moveTo>
                  <a:lnTo>
                    <a:pt x="1520825" y="0"/>
                  </a:lnTo>
                  <a:lnTo>
                    <a:pt x="1520825" y="582676"/>
                  </a:lnTo>
                  <a:lnTo>
                    <a:pt x="0" y="58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80510" b="-8049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5864040" y="303371"/>
            <a:ext cx="1046836" cy="421224"/>
            <a:chOff x="0" y="0"/>
            <a:chExt cx="1395781" cy="5616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95730" cy="561594"/>
            </a:xfrm>
            <a:custGeom>
              <a:avLst/>
              <a:gdLst/>
              <a:ahLst/>
              <a:cxnLst/>
              <a:rect l="l" t="t" r="r" b="b"/>
              <a:pathLst>
                <a:path w="1395730" h="561594">
                  <a:moveTo>
                    <a:pt x="0" y="0"/>
                  </a:moveTo>
                  <a:lnTo>
                    <a:pt x="1395730" y="0"/>
                  </a:lnTo>
                  <a:lnTo>
                    <a:pt x="1395730" y="561594"/>
                  </a:lnTo>
                  <a:lnTo>
                    <a:pt x="0" y="561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74267" r="-3" b="-7427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4492135" y="313477"/>
            <a:ext cx="19050" cy="386524"/>
            <a:chOff x="0" y="0"/>
            <a:chExt cx="25400" cy="5153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5136787" y="318002"/>
            <a:ext cx="19050" cy="386524"/>
            <a:chOff x="0" y="0"/>
            <a:chExt cx="25400" cy="515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6911961" y="301904"/>
            <a:ext cx="19050" cy="386524"/>
            <a:chOff x="0" y="0"/>
            <a:chExt cx="25400" cy="51536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822644" y="318002"/>
            <a:ext cx="19050" cy="386524"/>
            <a:chOff x="0" y="0"/>
            <a:chExt cx="25400" cy="5153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391400" y="288798"/>
            <a:ext cx="3994747" cy="519313"/>
            <a:chOff x="0" y="0"/>
            <a:chExt cx="5326329" cy="6924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26380" cy="692404"/>
            </a:xfrm>
            <a:custGeom>
              <a:avLst/>
              <a:gdLst/>
              <a:ahLst/>
              <a:cxnLst/>
              <a:rect l="l" t="t" r="r" b="b"/>
              <a:pathLst>
                <a:path w="5326380" h="692404">
                  <a:moveTo>
                    <a:pt x="0" y="0"/>
                  </a:moveTo>
                  <a:lnTo>
                    <a:pt x="5326380" y="0"/>
                  </a:lnTo>
                  <a:lnTo>
                    <a:pt x="5326380" y="692404"/>
                  </a:lnTo>
                  <a:lnTo>
                    <a:pt x="0" y="692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9" r="-108" b="-1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856850" y="1426923"/>
            <a:ext cx="10017421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6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&amp; Innovation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1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06254" y="888197"/>
            <a:ext cx="17875491" cy="8998296"/>
          </a:xfrm>
          <a:custGeom>
            <a:avLst/>
            <a:gdLst/>
            <a:ahLst/>
            <a:cxnLst/>
            <a:rect l="l" t="t" r="r" b="b"/>
            <a:pathLst>
              <a:path w="17875491" h="8998296">
                <a:moveTo>
                  <a:pt x="0" y="0"/>
                </a:moveTo>
                <a:lnTo>
                  <a:pt x="17875492" y="0"/>
                </a:lnTo>
                <a:lnTo>
                  <a:pt x="17875492" y="8998296"/>
                </a:lnTo>
                <a:lnTo>
                  <a:pt x="0" y="899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6301" y="292779"/>
            <a:ext cx="4265447" cy="569404"/>
            <a:chOff x="0" y="0"/>
            <a:chExt cx="5687263" cy="7592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7314" cy="759206"/>
            </a:xfrm>
            <a:custGeom>
              <a:avLst/>
              <a:gdLst/>
              <a:ahLst/>
              <a:cxnLst/>
              <a:rect l="l" t="t" r="r" b="b"/>
              <a:pathLst>
                <a:path w="5687314" h="759206">
                  <a:moveTo>
                    <a:pt x="0" y="0"/>
                  </a:moveTo>
                  <a:lnTo>
                    <a:pt x="5687314" y="0"/>
                  </a:lnTo>
                  <a:lnTo>
                    <a:pt x="5687314" y="759206"/>
                  </a:lnTo>
                  <a:lnTo>
                    <a:pt x="0" y="75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4553" b="-32455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990600" y="2732905"/>
            <a:ext cx="12582155" cy="6951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Scaling Possibilities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Expansion to commercial and industrial sectors alongside residential deployment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regional utility boards and national solar subsidy schemes</a:t>
            </a:r>
          </a:p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Extensions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AI-based models for predicting future household energy needs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analytics for precise battery storage and inverter sizing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Dedicated mobile app connecting homeowners directly with verified local solar installers</a:t>
            </a:r>
          </a:p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matching of high-intent homeowners with available local solar contractors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detection and application of eligible government rebates and tax incentives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smart home platforms and EV (Electric Vehicle) charging ecosystems to size systems for future usage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683530" y="306295"/>
            <a:ext cx="269786" cy="409927"/>
            <a:chOff x="0" y="0"/>
            <a:chExt cx="359715" cy="5465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664" cy="546608"/>
            </a:xfrm>
            <a:custGeom>
              <a:avLst/>
              <a:gdLst/>
              <a:ahLst/>
              <a:cxnLst/>
              <a:rect l="l" t="t" r="r" b="b"/>
              <a:pathLst>
                <a:path w="359664" h="546608">
                  <a:moveTo>
                    <a:pt x="0" y="0"/>
                  </a:moveTo>
                  <a:lnTo>
                    <a:pt x="359664" y="0"/>
                  </a:lnTo>
                  <a:lnTo>
                    <a:pt x="359664" y="546608"/>
                  </a:lnTo>
                  <a:lnTo>
                    <a:pt x="0" y="54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241" r="-14" b="-1523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265384" y="311734"/>
            <a:ext cx="403984" cy="404489"/>
            <a:chOff x="0" y="0"/>
            <a:chExt cx="538645" cy="5393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8607" cy="539369"/>
            </a:xfrm>
            <a:custGeom>
              <a:avLst/>
              <a:gdLst/>
              <a:ahLst/>
              <a:cxnLst/>
              <a:rect l="l" t="t" r="r" b="b"/>
              <a:pathLst>
                <a:path w="538607" h="539369">
                  <a:moveTo>
                    <a:pt x="0" y="0"/>
                  </a:moveTo>
                  <a:lnTo>
                    <a:pt x="538607" y="0"/>
                  </a:lnTo>
                  <a:lnTo>
                    <a:pt x="538607" y="539369"/>
                  </a:lnTo>
                  <a:lnTo>
                    <a:pt x="0" y="539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5" r="-7" b="-14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076020" y="311734"/>
            <a:ext cx="910723" cy="356321"/>
            <a:chOff x="0" y="0"/>
            <a:chExt cx="1214298" cy="4750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4247" cy="475107"/>
            </a:xfrm>
            <a:custGeom>
              <a:avLst/>
              <a:gdLst/>
              <a:ahLst/>
              <a:cxnLst/>
              <a:rect l="l" t="t" r="r" b="b"/>
              <a:pathLst>
                <a:path w="1214247" h="475107">
                  <a:moveTo>
                    <a:pt x="0" y="0"/>
                  </a:moveTo>
                  <a:lnTo>
                    <a:pt x="1214247" y="0"/>
                  </a:lnTo>
                  <a:lnTo>
                    <a:pt x="1214247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84" r="-4" b="-17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318341" y="292779"/>
            <a:ext cx="1140628" cy="436969"/>
            <a:chOff x="0" y="0"/>
            <a:chExt cx="1520838" cy="582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20825" cy="582676"/>
            </a:xfrm>
            <a:custGeom>
              <a:avLst/>
              <a:gdLst/>
              <a:ahLst/>
              <a:cxnLst/>
              <a:rect l="l" t="t" r="r" b="b"/>
              <a:pathLst>
                <a:path w="1520825" h="582676">
                  <a:moveTo>
                    <a:pt x="0" y="0"/>
                  </a:moveTo>
                  <a:lnTo>
                    <a:pt x="1520825" y="0"/>
                  </a:lnTo>
                  <a:lnTo>
                    <a:pt x="1520825" y="582676"/>
                  </a:lnTo>
                  <a:lnTo>
                    <a:pt x="0" y="58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80510" b="-8049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5864040" y="303371"/>
            <a:ext cx="1046836" cy="421224"/>
            <a:chOff x="0" y="0"/>
            <a:chExt cx="1395781" cy="5616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95730" cy="561594"/>
            </a:xfrm>
            <a:custGeom>
              <a:avLst/>
              <a:gdLst/>
              <a:ahLst/>
              <a:cxnLst/>
              <a:rect l="l" t="t" r="r" b="b"/>
              <a:pathLst>
                <a:path w="1395730" h="561594">
                  <a:moveTo>
                    <a:pt x="0" y="0"/>
                  </a:moveTo>
                  <a:lnTo>
                    <a:pt x="1395730" y="0"/>
                  </a:lnTo>
                  <a:lnTo>
                    <a:pt x="1395730" y="561594"/>
                  </a:lnTo>
                  <a:lnTo>
                    <a:pt x="0" y="561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74267" r="-3" b="-7427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4492135" y="313477"/>
            <a:ext cx="19050" cy="386524"/>
            <a:chOff x="0" y="0"/>
            <a:chExt cx="25400" cy="5153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5136787" y="318002"/>
            <a:ext cx="19050" cy="386524"/>
            <a:chOff x="0" y="0"/>
            <a:chExt cx="25400" cy="515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6911961" y="301904"/>
            <a:ext cx="19050" cy="386524"/>
            <a:chOff x="0" y="0"/>
            <a:chExt cx="25400" cy="51536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822644" y="318002"/>
            <a:ext cx="19050" cy="386524"/>
            <a:chOff x="0" y="0"/>
            <a:chExt cx="25400" cy="5153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391400" y="288798"/>
            <a:ext cx="3994747" cy="519313"/>
            <a:chOff x="0" y="0"/>
            <a:chExt cx="5326329" cy="6924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26380" cy="692404"/>
            </a:xfrm>
            <a:custGeom>
              <a:avLst/>
              <a:gdLst/>
              <a:ahLst/>
              <a:cxnLst/>
              <a:rect l="l" t="t" r="r" b="b"/>
              <a:pathLst>
                <a:path w="5326380" h="692404">
                  <a:moveTo>
                    <a:pt x="0" y="0"/>
                  </a:moveTo>
                  <a:lnTo>
                    <a:pt x="5326380" y="0"/>
                  </a:lnTo>
                  <a:lnTo>
                    <a:pt x="5326380" y="692404"/>
                  </a:lnTo>
                  <a:lnTo>
                    <a:pt x="0" y="692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9" r="-108" b="-1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856850" y="1426923"/>
            <a:ext cx="10017421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6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1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06254" y="888197"/>
            <a:ext cx="17875491" cy="8998296"/>
          </a:xfrm>
          <a:custGeom>
            <a:avLst/>
            <a:gdLst/>
            <a:ahLst/>
            <a:cxnLst/>
            <a:rect l="l" t="t" r="r" b="b"/>
            <a:pathLst>
              <a:path w="17875491" h="8998296">
                <a:moveTo>
                  <a:pt x="0" y="0"/>
                </a:moveTo>
                <a:lnTo>
                  <a:pt x="17875492" y="0"/>
                </a:lnTo>
                <a:lnTo>
                  <a:pt x="17875492" y="8998296"/>
                </a:lnTo>
                <a:lnTo>
                  <a:pt x="0" y="899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6301" y="292779"/>
            <a:ext cx="4265447" cy="569404"/>
            <a:chOff x="0" y="0"/>
            <a:chExt cx="5687263" cy="7592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87314" cy="759206"/>
            </a:xfrm>
            <a:custGeom>
              <a:avLst/>
              <a:gdLst/>
              <a:ahLst/>
              <a:cxnLst/>
              <a:rect l="l" t="t" r="r" b="b"/>
              <a:pathLst>
                <a:path w="5687314" h="759206">
                  <a:moveTo>
                    <a:pt x="0" y="0"/>
                  </a:moveTo>
                  <a:lnTo>
                    <a:pt x="5687314" y="0"/>
                  </a:lnTo>
                  <a:lnTo>
                    <a:pt x="5687314" y="759206"/>
                  </a:lnTo>
                  <a:lnTo>
                    <a:pt x="0" y="759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4553" b="-32455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8179" y="3960736"/>
            <a:ext cx="14285138" cy="347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Ministry of New and Renewable Energy (MNRE) – Rooftop Solar Program Guidelines and Reports</a:t>
            </a:r>
          </a:p>
          <a:p>
            <a:pPr marL="604520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NITI Aayog – Renewable Energy Integration &amp; Transition Planning Reports</a:t>
            </a:r>
          </a:p>
          <a:p>
            <a:pPr marL="604520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International Energy Agency (IEA) – Global Solar Energy Market &amp; Feasibility Studies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National Renewable Energy Laboratory (NREL) – PV System Performance and Irradiance Methodologies</a:t>
            </a:r>
          </a:p>
          <a:p>
            <a:pPr>
              <a:lnSpc>
                <a:spcPts val="3359"/>
              </a:lnSpc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https://www.niti.gov.in/sites/default/files/2021-07/Renewable-Energy-Integration-in-India-2021.pdf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683530" y="306295"/>
            <a:ext cx="269786" cy="409927"/>
            <a:chOff x="0" y="0"/>
            <a:chExt cx="359715" cy="5465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9664" cy="546608"/>
            </a:xfrm>
            <a:custGeom>
              <a:avLst/>
              <a:gdLst/>
              <a:ahLst/>
              <a:cxnLst/>
              <a:rect l="l" t="t" r="r" b="b"/>
              <a:pathLst>
                <a:path w="359664" h="546608">
                  <a:moveTo>
                    <a:pt x="0" y="0"/>
                  </a:moveTo>
                  <a:lnTo>
                    <a:pt x="359664" y="0"/>
                  </a:lnTo>
                  <a:lnTo>
                    <a:pt x="359664" y="546608"/>
                  </a:lnTo>
                  <a:lnTo>
                    <a:pt x="0" y="5466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241" r="-14" b="-15232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265384" y="311734"/>
            <a:ext cx="403984" cy="404489"/>
            <a:chOff x="0" y="0"/>
            <a:chExt cx="538645" cy="5393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8607" cy="539369"/>
            </a:xfrm>
            <a:custGeom>
              <a:avLst/>
              <a:gdLst/>
              <a:ahLst/>
              <a:cxnLst/>
              <a:rect l="l" t="t" r="r" b="b"/>
              <a:pathLst>
                <a:path w="538607" h="539369">
                  <a:moveTo>
                    <a:pt x="0" y="0"/>
                  </a:moveTo>
                  <a:lnTo>
                    <a:pt x="538607" y="0"/>
                  </a:lnTo>
                  <a:lnTo>
                    <a:pt x="538607" y="539369"/>
                  </a:lnTo>
                  <a:lnTo>
                    <a:pt x="0" y="539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55" r="-7" b="-14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076020" y="311734"/>
            <a:ext cx="910723" cy="356321"/>
            <a:chOff x="0" y="0"/>
            <a:chExt cx="1214298" cy="4750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4247" cy="475107"/>
            </a:xfrm>
            <a:custGeom>
              <a:avLst/>
              <a:gdLst/>
              <a:ahLst/>
              <a:cxnLst/>
              <a:rect l="l" t="t" r="r" b="b"/>
              <a:pathLst>
                <a:path w="1214247" h="475107">
                  <a:moveTo>
                    <a:pt x="0" y="0"/>
                  </a:moveTo>
                  <a:lnTo>
                    <a:pt x="1214247" y="0"/>
                  </a:lnTo>
                  <a:lnTo>
                    <a:pt x="1214247" y="475107"/>
                  </a:lnTo>
                  <a:lnTo>
                    <a:pt x="0" y="475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84" r="-4" b="-17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318341" y="292779"/>
            <a:ext cx="1140628" cy="436969"/>
            <a:chOff x="0" y="0"/>
            <a:chExt cx="1520838" cy="5826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20825" cy="582676"/>
            </a:xfrm>
            <a:custGeom>
              <a:avLst/>
              <a:gdLst/>
              <a:ahLst/>
              <a:cxnLst/>
              <a:rect l="l" t="t" r="r" b="b"/>
              <a:pathLst>
                <a:path w="1520825" h="582676">
                  <a:moveTo>
                    <a:pt x="0" y="0"/>
                  </a:moveTo>
                  <a:lnTo>
                    <a:pt x="1520825" y="0"/>
                  </a:lnTo>
                  <a:lnTo>
                    <a:pt x="1520825" y="582676"/>
                  </a:lnTo>
                  <a:lnTo>
                    <a:pt x="0" y="58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80510" b="-8049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5864040" y="303371"/>
            <a:ext cx="1046836" cy="421224"/>
            <a:chOff x="0" y="0"/>
            <a:chExt cx="1395781" cy="5616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95730" cy="561594"/>
            </a:xfrm>
            <a:custGeom>
              <a:avLst/>
              <a:gdLst/>
              <a:ahLst/>
              <a:cxnLst/>
              <a:rect l="l" t="t" r="r" b="b"/>
              <a:pathLst>
                <a:path w="1395730" h="561594">
                  <a:moveTo>
                    <a:pt x="0" y="0"/>
                  </a:moveTo>
                  <a:lnTo>
                    <a:pt x="1395730" y="0"/>
                  </a:lnTo>
                  <a:lnTo>
                    <a:pt x="1395730" y="561594"/>
                  </a:lnTo>
                  <a:lnTo>
                    <a:pt x="0" y="561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74267" r="-3" b="-7427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4492135" y="313477"/>
            <a:ext cx="19050" cy="386524"/>
            <a:chOff x="0" y="0"/>
            <a:chExt cx="25400" cy="5153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5136787" y="318002"/>
            <a:ext cx="19050" cy="386524"/>
            <a:chOff x="0" y="0"/>
            <a:chExt cx="25400" cy="515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6911961" y="301904"/>
            <a:ext cx="19050" cy="386524"/>
            <a:chOff x="0" y="0"/>
            <a:chExt cx="25400" cy="51536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822644" y="318002"/>
            <a:ext cx="19050" cy="386524"/>
            <a:chOff x="0" y="0"/>
            <a:chExt cx="25400" cy="5153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909" cy="523748"/>
            </a:xfrm>
            <a:custGeom>
              <a:avLst/>
              <a:gdLst/>
              <a:ahLst/>
              <a:cxnLst/>
              <a:rect l="l" t="t" r="r" b="b"/>
              <a:pathLst>
                <a:path w="33909" h="523748">
                  <a:moveTo>
                    <a:pt x="0" y="506857"/>
                  </a:move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cubicBezTo>
                    <a:pt x="26162" y="0"/>
                    <a:pt x="33909" y="7620"/>
                    <a:pt x="33909" y="16891"/>
                  </a:cubicBezTo>
                  <a:lnTo>
                    <a:pt x="33909" y="506857"/>
                  </a:lnTo>
                  <a:cubicBezTo>
                    <a:pt x="33909" y="516255"/>
                    <a:pt x="26289" y="523748"/>
                    <a:pt x="17018" y="523748"/>
                  </a:cubicBezTo>
                  <a:cubicBezTo>
                    <a:pt x="7747" y="523748"/>
                    <a:pt x="0" y="516255"/>
                    <a:pt x="0" y="5068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391400" y="288798"/>
            <a:ext cx="3994747" cy="519313"/>
            <a:chOff x="0" y="0"/>
            <a:chExt cx="5326329" cy="6924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26380" cy="692404"/>
            </a:xfrm>
            <a:custGeom>
              <a:avLst/>
              <a:gdLst/>
              <a:ahLst/>
              <a:cxnLst/>
              <a:rect l="l" t="t" r="r" b="b"/>
              <a:pathLst>
                <a:path w="5326380" h="692404">
                  <a:moveTo>
                    <a:pt x="0" y="0"/>
                  </a:moveTo>
                  <a:lnTo>
                    <a:pt x="5326380" y="0"/>
                  </a:lnTo>
                  <a:lnTo>
                    <a:pt x="5326380" y="692404"/>
                  </a:lnTo>
                  <a:lnTo>
                    <a:pt x="0" y="692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9" r="-108" b="-1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856850" y="1426923"/>
            <a:ext cx="7062904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9"/>
              </a:lnSpc>
            </a:pPr>
            <a:r>
              <a:rPr lang="en-US" sz="6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1240" y="-427739"/>
            <a:ext cx="19390481" cy="11142478"/>
            <a:chOff x="0" y="0"/>
            <a:chExt cx="25853974" cy="148566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54025" cy="14856588"/>
            </a:xfrm>
            <a:custGeom>
              <a:avLst/>
              <a:gdLst/>
              <a:ahLst/>
              <a:cxnLst/>
              <a:rect l="l" t="t" r="r" b="b"/>
              <a:pathLst>
                <a:path w="25854025" h="14856588">
                  <a:moveTo>
                    <a:pt x="0" y="0"/>
                  </a:moveTo>
                  <a:lnTo>
                    <a:pt x="25854025" y="0"/>
                  </a:lnTo>
                  <a:lnTo>
                    <a:pt x="25854025" y="14856588"/>
                  </a:lnTo>
                  <a:lnTo>
                    <a:pt x="0" y="14856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07" b="-800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326245" y="5035477"/>
            <a:ext cx="9065428" cy="62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96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809</Words>
  <Application>Microsoft Office PowerPoint</Application>
  <PresentationFormat>Custom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Calibri (MS) Bold</vt:lpstr>
      <vt:lpstr>Times New Roman Bold</vt:lpstr>
      <vt:lpstr>Times New Roman</vt:lpstr>
      <vt:lpstr>Calibri</vt:lpstr>
      <vt:lpstr>Calibri (MS)</vt:lpstr>
      <vt:lpstr>Arial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PPT Template Hack9.pptx</dc:title>
  <dc:creator>Mehul Bisht</dc:creator>
  <cp:lastModifiedBy>Mehul Bisht</cp:lastModifiedBy>
  <cp:revision>2</cp:revision>
  <dcterms:created xsi:type="dcterms:W3CDTF">2006-08-16T00:00:00Z</dcterms:created>
  <dcterms:modified xsi:type="dcterms:W3CDTF">2026-03-22T06:28:29Z</dcterms:modified>
  <dc:identifier>DAHElnJFed8</dc:identifier>
</cp:coreProperties>
</file>